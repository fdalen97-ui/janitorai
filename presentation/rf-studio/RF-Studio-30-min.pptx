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ÅPNING (30 sek). Si hvem du er og hvorfor du står her: eiendomsansvarlige har bedt om innblikk i utviklingsarbeidet i PFT. Lov publikum én ting: «Om 30 minutter vet du hva RF Studio er, hva det betyr for ditt bygg, og hvordan du får sagt din mening.»
Pedagogisk grep: Start med et løfte, ikke med organisasjonskart. Det setter forventning (Gagnés hendelse 1–2: fang oppmerksomhet, opplys om målet).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MÅL OG PLAN (1 min). Les de tre målene høyt. Si at planen til høyre er «skiltingen» – publikum skal alltid vite hvor vi er.
Pedagogisk grep: Eksplisitte læringsmål + tidsatt agenda (signposting) reduserer kognitiv belastning: tilhørerne slipper å lure på «hvor lenge varer dette» og kan bruke oppmerksomheten på innholdet.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HVORFOR – KROKEN (2 min). La tallene stå et øyeblikk. Still spørsmålet og be om håndsopprekning: «Hvem har opplevd dette den siste måneden?» Vent i 5 sekunder – stillhet er lov.
Poeng: Med 350 lokasjoner er det ikke mulig å lære av hverandre uten en felles arena. Det er hullet RF Studio skal fylle.
Pedagogisk grep: Aktiver forkunnskap (Gagnés hendelse 3) – publikum kobler det nye til egen erfaring før vi forklarer løsningen. Tall &gt; adjektiver.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AKTIVITET (3 min). Hold tiden strengt – si «ett minutt» høyt. Skriv eksemplene som kommer på tavle/flipover; de blir råstoff for slutten («Hvilket behov ville du meldt inn i dag?»).
Pedagogisk grep: Tenk–par–del gir alle en stemme (ikke bare de høylytte) og skaper eierskap før vi presenterer RF Studio. Innholdet vårt lander bedre når det svarer på et problem de selv nettopp har satt ord på.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UTFORDRINGENE (2 min). Én setning per kort – ikke les. Koble til det publikum sa i sted: «Dere nevnte X – det er et typisk eksempel på punkt 2.»
Pedagogisk grep: Problem før løsning. Hjernen husker svar bedre når den først har kjent på spørsmålet. Tre punkter – ikke fem – fordi arbeidsminnet er begrenset (chunking).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HVA ER RF STUDIO (2 min). Les definisjonen høyt én gang – dette er setningen publikum skal kunne gjengi (læringsmål 1). Så de tre verbene: utforske, utvikle, dele.
FYLL INN før bruk: hva RF står for, etableringsår, organisatorisk plassering. Juster definisjonen så den stemmer med RF Studios eget mandat.
Pedagogisk grep: Én definisjon + tre verb. Verb er lettere å huske enn substantiv, og de svarer på «hva gjør dere egentlig?».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HVEM (1,5 min). Pek på figuren: RF Studio står i midten, men eiendomsansvarlige er den viktigste kilden til behov. Si tydelig: «Dere er ikke publikum for dette arbeidet – dere er medspillere.»
FYLL INN: navn og roller i teamet. Bytt gjerne ut satellittene hvis RF Studio har andre hovedpartnere.
Pedagogisk grep: Plasser tilhøreren i bildet (relevans – ARCS-modellen). Folk husker det de er en del 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FOKUSOMRÅDER (2 min). Maks tre. For hvert: problem → for hvem → status. Ikke gå i detalj her – eksemplene kommer senere.
FYLL INN: RF Studios faktiske fokusområder og status. Eksemplene i grått er forslag og skal byttes ut.
Pedagogisk grep: Samme mønster på alle tre kortene (problem/for hvem/status) gjør det lett å sammenligne og huske – forutsigbar struktur frigjør oppmerksomhet.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PROSESSEN (2–3 min). Gå gjennom stegene med et ekte eksempel i bakhodet. Understrek steg 3: «Vi tester i ekte lokaler – kanskje i ditt.» Pek på den stiplede pilen: dette er en sløyfe, ikke en linje.
Pedagogisk grep: Prosessvisualisering (dual coding – bilde + ord) og nummerering. Fremhevet steg 3 fordi det er der eiendomsansvarlige møter arbeidet i praksis.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PRINSIPPER (2 min). Dette er «hvorfor vi sier nei til noen ting». Bruk gjerne et eksempel på noe RF Studio har valgt bort fordi det brøt med prinsipp 1 eller 2.
FYLL INN/JUSTER: bytt ut med RF Studios egne prinsipper hvis de har formulert dem.
Pedagogisk grep: Prinsipper gir publikum en «tenkeregel» de kan bruke selv – det er høyere på Blooms taksonomi (anvende/vurdere) enn å huske fakta.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SJEKKPUNKT (2 min). Les hver påstand, be om håndsopprekning. Fasit: 1 = USANT (vi tester lokalt først, sammen med dere). 2 = SANT. 3 = SANT. Feil svar er gull: da vet du hva som må sies tydeligere i andre halvdel.
Pedagogisk grep: Hentetrening (retrieval practice) midt i økten. Å hente kunnskap fram styrker hukommelsen mer enn å høre den én gang til, og det bryter passiviteten etter 12–15 minutter.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EKSEMPEL (2–3 min). Fortell det som en historie: situasjonen, hva dere gjorde, hva som skjedde. Ett tall er nok («fra 6 uker til 2»). Avslutt med hva som nå er tilgjengelig for alle.
FYLL INN: et ekte case fra RF Studio. Bruk gjerne et der en eiendomsansvarlig var med – navngi vedkommende (med samtykke).
Pedagogisk grep: Konkret eksempel etter abstrakt prosess (konkret–abstrakt-veksling). Før/etter-formatet gjør effekten synlig, og historier huskes bedre enn punktlister.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EKSEMPEL (2–3 min). Fortell det som en historie: situasjonen, hva dere gjorde, hva som skjedde. Ett tall er nok («fra 6 uker til 2»). Avslutt med hva som nå er tilgjengelig for alle.
FYLL INN: et ekte case fra RF Studio. Bruk gjerne et der en eiendomsansvarlig var med – navngi vedkommende (med samtykke).
Pedagogisk grep: Konkret eksempel etter abstrakt prosess (konkret–abstrakt-veksling). Før/etter-formatet gjør effekten synlig, og historier huskes bedre enn punktlister.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DEG (2 min). Dette er svaret på «hva har jeg igjen for det?» – den viktigste sliden for at budskapet skal bli husket. Snakk direkte: «du», ikke «eiendomsansvarlige».
Pedagogisk grep: WIIFM («what's in it for me») – relevans er den sterkeste driveren for motivasjon (ARCS: Relevance). Oransje ikoner markerer skiftet fra «oss» til «deg».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DISKUSJON (4 min). 2,5 min i grupper, 1,5 min deling. Ta imot alle innspill uten å vurdere dem («takk, notert») – vurdering dreper deling. Lov å komme tilbake med hva som skjer med innspillene, og hold det.
Pedagogisk grep: Overføring (transfer). Publikum bruker det de nettopp lærte (behov → hvor mange gjelder det) på sin egen situasjon. Det er den sterkeste formen for læring – og gir RF Studio ekte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BIDRA (1,5 min). Tre helt konkrete handlinger – si hva som er det første steget for hver. Tidslinjen viser at dette skjer nå, ikke «en gang».
FYLL INN: kanal for innmelding, lenke til det som finnes, og fire milepæler.
Pedagogisk grep: Handling med lav terskel. En oppfordring uten konkret første steg blir ikke fulgt opp.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OPPSUMMERING (1 min). Speil læringsmålene fra slide 2 – én til én. Spør: «Kan sidemannen din forklare RF Studio med én setning? Prøv.» (20 sekunder). Så: «Da har vi holdt løftet.»
Pedagogisk grep: Repetisjon i ny form + lukking av sløyfen mål → sjekk (Gagnés hendelse 8–9: vurder og styrk overføring). Tre punkter som speiler de tre målene gir en tydelig «ferdig»-følelse.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AVSLUTNING. Ta spørsmål. Hvis det blir stille: still ett selv («Det jeg oftest får spørsmål om er …»). Avslutt med å gjenta det ene konkrete steget: meld inn ett behov denne uken.
FYLL INN: kontaktinformasjon og lenke. Send slidene til deltakerne etterpå – oppsummeringsslidene fungerer som huskelapp.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3C"/>
        </a:solidFill>
      </p:bgPr>
    </p:bg>
    <p:spTree>
      <p:nvGrpSpPr>
        <p:cNvPr id="1" name=""/>
        <p:cNvGrpSpPr/>
        <p:nvPr/>
      </p:nvGrpSpPr>
      <p:grpSpPr>
        <a:xfrm>
          <a:off x="0" y="0"/>
          <a:ext cx="0" cy="0"/>
          <a:chOff x="0" y="0"/>
          <a:chExt cx="0" cy="0"/>
        </a:xfrm>
      </p:grpSpPr>
      <p:sp>
        <p:nvSpPr>
          <p:cNvPr id="2" name="Shape 0"/>
          <p:cNvSpPr/>
          <p:nvPr/>
        </p:nvSpPr>
        <p:spPr>
          <a:xfrm>
            <a:off x="7863840" y="-1463040"/>
            <a:ext cx="5943600" cy="5943600"/>
          </a:xfrm>
          <a:prstGeom prst="ellipse">
            <a:avLst/>
          </a:prstGeom>
          <a:solidFill>
            <a:srgbClr val="1D3750"/>
          </a:solidFill>
          <a:ln w="12700">
            <a:solidFill>
              <a:srgbClr val="1D3750"/>
            </a:solidFill>
            <a:prstDash val="solid"/>
          </a:ln>
        </p:spPr>
      </p:sp>
      <p:sp>
        <p:nvSpPr>
          <p:cNvPr id="3" name="Shape 1"/>
          <p:cNvSpPr/>
          <p:nvPr/>
        </p:nvSpPr>
        <p:spPr>
          <a:xfrm>
            <a:off x="9509760" y="548640"/>
            <a:ext cx="2926080" cy="2926080"/>
          </a:xfrm>
          <a:prstGeom prst="ellipse">
            <a:avLst/>
          </a:prstGeom>
          <a:solidFill>
            <a:srgbClr val="3F6E93"/>
          </a:solidFill>
          <a:ln w="12700">
            <a:solidFill>
              <a:srgbClr val="3F6E93"/>
            </a:solidFill>
            <a:prstDash val="solid"/>
          </a:ln>
        </p:spPr>
      </p:sp>
      <p:sp>
        <p:nvSpPr>
          <p:cNvPr id="4" name="Text 2"/>
          <p:cNvSpPr txBox="1"/>
          <p:nvPr/>
        </p:nvSpPr>
        <p:spPr>
          <a:xfrm>
            <a:off x="640080" y="1463040"/>
            <a:ext cx="7315200" cy="365760"/>
          </a:xfrm>
          <a:prstGeom prst="rect">
            <a:avLst/>
          </a:prstGeom>
          <a:noFill/>
          <a:ln/>
        </p:spPr>
        <p:txBody>
          <a:bodyPr wrap="square" lIns="0" tIns="0" rIns="0" bIns="0" rtlCol="0" anchor="ctr"/>
          <a:lstStyle/>
          <a:p>
            <a:pPr indent="0" marL="0">
              <a:buNone/>
            </a:pPr>
            <a:r>
              <a:rPr lang="en-US" sz="1200" b="1" spc="300" kern="0" dirty="0">
                <a:solidFill>
                  <a:srgbClr val="E0A526"/>
                </a:solidFill>
                <a:latin typeface="Calibri" pitchFamily="34" charset="0"/>
                <a:ea typeface="Calibri" pitchFamily="34" charset="-122"/>
                <a:cs typeface="Calibri" pitchFamily="34" charset="-120"/>
              </a:rPr>
              <a:t>PFT EIENDOM  ·  UTVIKLINGSARBEID</a:t>
            </a:r>
            <a:endParaRPr lang="en-US" sz="1200" dirty="0"/>
          </a:p>
        </p:txBody>
      </p:sp>
      <p:sp>
        <p:nvSpPr>
          <p:cNvPr id="5" name="Text 3"/>
          <p:cNvSpPr txBox="1"/>
          <p:nvPr/>
        </p:nvSpPr>
        <p:spPr>
          <a:xfrm>
            <a:off x="640080" y="1920240"/>
            <a:ext cx="8229600" cy="128016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RF Studio</a:t>
            </a:r>
            <a:endParaRPr lang="en-US" sz="6600" dirty="0"/>
          </a:p>
        </p:txBody>
      </p:sp>
      <p:sp>
        <p:nvSpPr>
          <p:cNvPr id="6" name="Text 4"/>
          <p:cNvSpPr txBox="1"/>
          <p:nvPr/>
        </p:nvSpPr>
        <p:spPr>
          <a:xfrm>
            <a:off x="640080" y="3246120"/>
            <a:ext cx="7772400" cy="822960"/>
          </a:xfrm>
          <a:prstGeom prst="rect">
            <a:avLst/>
          </a:prstGeom>
          <a:noFill/>
          <a:ln/>
        </p:spPr>
        <p:txBody>
          <a:bodyPr wrap="square" lIns="0" tIns="0" rIns="0" bIns="0" rtlCol="0" anchor="t"/>
          <a:lstStyle/>
          <a:p>
            <a:pPr indent="0" marL="0">
              <a:buNone/>
            </a:pPr>
            <a:r>
              <a:rPr lang="en-US" sz="2200" dirty="0">
                <a:solidFill>
                  <a:srgbClr val="DCE6EF"/>
                </a:solidFill>
                <a:latin typeface="Calibri" pitchFamily="34" charset="0"/>
                <a:ea typeface="Calibri" pitchFamily="34" charset="-122"/>
                <a:cs typeface="Calibri" pitchFamily="34" charset="-120"/>
              </a:rPr>
              <a:t>Utviklingsarbeidet i PFT Eiendom – hva vi gjør, hvordan, og hva det betyr for deg</a:t>
            </a:r>
            <a:endParaRPr lang="en-US" sz="2200" dirty="0"/>
          </a:p>
        </p:txBody>
      </p:sp>
      <p:sp>
        <p:nvSpPr>
          <p:cNvPr id="7" name="Text 5"/>
          <p:cNvSpPr txBox="1"/>
          <p:nvPr/>
        </p:nvSpPr>
        <p:spPr>
          <a:xfrm>
            <a:off x="640080" y="4297680"/>
            <a:ext cx="7315200" cy="365760"/>
          </a:xfrm>
          <a:prstGeom prst="rect">
            <a:avLst/>
          </a:prstGeom>
          <a:noFill/>
          <a:ln/>
        </p:spPr>
        <p:txBody>
          <a:bodyPr wrap="square" lIns="0" tIns="0" rIns="0" bIns="0" rtlCol="0" anchor="ctr"/>
          <a:lstStyle/>
          <a:p>
            <a:pPr indent="0" marL="0">
              <a:buNone/>
            </a:pPr>
            <a:r>
              <a:rPr lang="en-US" sz="1400" dirty="0">
                <a:solidFill>
                  <a:srgbClr val="AFC1D0"/>
                </a:solidFill>
                <a:latin typeface="Calibri" pitchFamily="34" charset="0"/>
                <a:ea typeface="Calibri" pitchFamily="34" charset="-122"/>
                <a:cs typeface="Calibri" pitchFamily="34" charset="-120"/>
              </a:rPr>
              <a:t>For eiendomsansvarlige  ·  30 minutter</a:t>
            </a:r>
            <a:endParaRPr lang="en-US" sz="1400" dirty="0"/>
          </a:p>
        </p:txBody>
      </p:sp>
      <p:sp>
        <p:nvSpPr>
          <p:cNvPr id="8" name="Text 6"/>
          <p:cNvSpPr txBox="1"/>
          <p:nvPr/>
        </p:nvSpPr>
        <p:spPr>
          <a:xfrm>
            <a:off x="640080" y="4663440"/>
            <a:ext cx="7315200" cy="365760"/>
          </a:xfrm>
          <a:prstGeom prst="rect">
            <a:avLst/>
          </a:prstGeom>
          <a:noFill/>
          <a:ln/>
        </p:spPr>
        <p:txBody>
          <a:bodyPr wrap="square" lIns="0" tIns="0" rIns="0" bIns="0" rtlCol="0" anchor="ctr"/>
          <a:lstStyle/>
          <a:p>
            <a:pPr indent="0" marL="0">
              <a:buNone/>
            </a:pPr>
            <a:r>
              <a:rPr lang="en-US" sz="1400" i="1" dirty="0">
                <a:solidFill>
                  <a:srgbClr val="3F6E93"/>
                </a:solidFill>
                <a:latin typeface="Calibri" pitchFamily="34" charset="0"/>
                <a:ea typeface="Calibri" pitchFamily="34" charset="-122"/>
                <a:cs typeface="Calibri" pitchFamily="34" charset="-120"/>
              </a:rPr>
              <a:t>[Dato]</a:t>
            </a:r>
            <a:pPr indent="0" marL="0">
              <a:buNone/>
            </a:pPr>
            <a:r>
              <a:rPr lang="en-US" sz="1400" dirty="0">
                <a:solidFill>
                  <a:srgbClr val="AFC1D0"/>
                </a:solidFill>
                <a:latin typeface="Calibri" pitchFamily="34" charset="0"/>
                <a:ea typeface="Calibri" pitchFamily="34" charset="-122"/>
                <a:cs typeface="Calibri" pitchFamily="34" charset="-120"/>
              </a:rPr>
              <a:t>   ·   </a:t>
            </a:r>
            <a:pPr indent="0" marL="0">
              <a:buNone/>
            </a:pPr>
            <a:r>
              <a:rPr lang="en-US" sz="1400" i="1" dirty="0">
                <a:solidFill>
                  <a:srgbClr val="3F6E93"/>
                </a:solidFill>
                <a:latin typeface="Calibri" pitchFamily="34" charset="0"/>
                <a:ea typeface="Calibri" pitchFamily="34" charset="-122"/>
                <a:cs typeface="Calibri" pitchFamily="34" charset="-120"/>
              </a:rPr>
              <a:t>[Navn på presentatør, RF Studio]</a:t>
            </a:r>
            <a:endParaRPr lang="en-US" sz="1400" dirty="0"/>
          </a:p>
        </p:txBody>
      </p:sp>
      <p:sp>
        <p:nvSpPr>
          <p:cNvPr id="9" name="Text 7"/>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8FA3B5"/>
                </a:solidFill>
                <a:latin typeface="Calibri" pitchFamily="34" charset="0"/>
                <a:ea typeface="Calibri" pitchFamily="34" charset="-122"/>
                <a:cs typeface="Calibri" pitchFamily="34" charset="-120"/>
              </a:rPr>
              <a:t>RF Studio  ·  PFT Eiendom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Etter 30 minutter kan du …</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MÅL OG PLAN</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2 / 18</a:t>
            </a:r>
            <a:endParaRPr lang="en-US" sz="900" dirty="0"/>
          </a:p>
        </p:txBody>
      </p:sp>
      <p:sp>
        <p:nvSpPr>
          <p:cNvPr id="6" name="Shape 4"/>
          <p:cNvSpPr/>
          <p:nvPr/>
        </p:nvSpPr>
        <p:spPr>
          <a:xfrm>
            <a:off x="640080" y="1600200"/>
            <a:ext cx="566928" cy="566928"/>
          </a:xfrm>
          <a:prstGeom prst="ellipse">
            <a:avLst/>
          </a:prstGeom>
          <a:solidFill>
            <a:srgbClr val="EAF0F5"/>
          </a:solidFill>
          <a:ln w="12700">
            <a:solidFill>
              <a:srgbClr val="EAF0F5"/>
            </a:solidFill>
            <a:prstDash val="solid"/>
          </a:ln>
        </p:spPr>
      </p:sp>
      <p:pic>
        <p:nvPicPr>
          <p:cNvPr id="7" name="Image 0" descr="preencoded.png">    </p:cNvPr>
          <p:cNvPicPr>
            <a:picLocks noChangeAspect="1"/>
          </p:cNvPicPr>
          <p:nvPr/>
        </p:nvPicPr>
        <p:blipFill>
          <a:blip r:embed="rId1"/>
          <a:stretch>
            <a:fillRect/>
          </a:stretch>
        </p:blipFill>
        <p:spPr>
          <a:xfrm>
            <a:off x="781812" y="1741932"/>
            <a:ext cx="283464" cy="283464"/>
          </a:xfrm>
          <a:prstGeom prst="rect">
            <a:avLst/>
          </a:prstGeom>
        </p:spPr>
      </p:pic>
      <p:sp>
        <p:nvSpPr>
          <p:cNvPr id="8" name="Text 5"/>
          <p:cNvSpPr txBox="1"/>
          <p:nvPr/>
        </p:nvSpPr>
        <p:spPr>
          <a:xfrm>
            <a:off x="1417320" y="1600200"/>
            <a:ext cx="5120640" cy="566928"/>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forklare hva RF Studio er – med én setning</a:t>
            </a:r>
            <a:endParaRPr lang="en-US" sz="1700" dirty="0"/>
          </a:p>
        </p:txBody>
      </p:sp>
      <p:sp>
        <p:nvSpPr>
          <p:cNvPr id="9" name="Shape 6"/>
          <p:cNvSpPr/>
          <p:nvPr/>
        </p:nvSpPr>
        <p:spPr>
          <a:xfrm>
            <a:off x="640080" y="2560320"/>
            <a:ext cx="566928" cy="566928"/>
          </a:xfrm>
          <a:prstGeom prst="ellipse">
            <a:avLst/>
          </a:prstGeom>
          <a:solidFill>
            <a:srgbClr val="EAF0F5"/>
          </a:solidFill>
          <a:ln w="12700">
            <a:solidFill>
              <a:srgbClr val="EAF0F5"/>
            </a:solidFill>
            <a:prstDash val="solid"/>
          </a:ln>
        </p:spPr>
      </p:sp>
      <p:pic>
        <p:nvPicPr>
          <p:cNvPr id="10" name="Image 1" descr="preencoded.png">    </p:cNvPr>
          <p:cNvPicPr>
            <a:picLocks noChangeAspect="1"/>
          </p:cNvPicPr>
          <p:nvPr/>
        </p:nvPicPr>
        <p:blipFill>
          <a:blip r:embed="rId2"/>
          <a:stretch>
            <a:fillRect/>
          </a:stretch>
        </p:blipFill>
        <p:spPr>
          <a:xfrm>
            <a:off x="781812" y="2702052"/>
            <a:ext cx="283464" cy="283464"/>
          </a:xfrm>
          <a:prstGeom prst="rect">
            <a:avLst/>
          </a:prstGeom>
        </p:spPr>
      </p:pic>
      <p:sp>
        <p:nvSpPr>
          <p:cNvPr id="11" name="Text 7"/>
          <p:cNvSpPr txBox="1"/>
          <p:nvPr/>
        </p:nvSpPr>
        <p:spPr>
          <a:xfrm>
            <a:off x="1417320" y="2560320"/>
            <a:ext cx="5120640" cy="566928"/>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peke på hva utviklingsarbeidet betyr for dine bygg og din hverdag</a:t>
            </a:r>
            <a:endParaRPr lang="en-US" sz="1700" dirty="0"/>
          </a:p>
        </p:txBody>
      </p:sp>
      <p:sp>
        <p:nvSpPr>
          <p:cNvPr id="12" name="Shape 8"/>
          <p:cNvSpPr/>
          <p:nvPr/>
        </p:nvSpPr>
        <p:spPr>
          <a:xfrm>
            <a:off x="640080" y="3520440"/>
            <a:ext cx="566928" cy="566928"/>
          </a:xfrm>
          <a:prstGeom prst="ellipse">
            <a:avLst/>
          </a:prstGeom>
          <a:solidFill>
            <a:srgbClr val="EAF0F5"/>
          </a:solidFill>
          <a:ln w="12700">
            <a:solidFill>
              <a:srgbClr val="EAF0F5"/>
            </a:solidFill>
            <a:prstDash val="solid"/>
          </a:ln>
        </p:spPr>
      </p:sp>
      <p:pic>
        <p:nvPicPr>
          <p:cNvPr id="13" name="Image 2" descr="preencoded.png">    </p:cNvPr>
          <p:cNvPicPr>
            <a:picLocks noChangeAspect="1"/>
          </p:cNvPicPr>
          <p:nvPr/>
        </p:nvPicPr>
        <p:blipFill>
          <a:blip r:embed="rId3"/>
          <a:stretch>
            <a:fillRect/>
          </a:stretch>
        </p:blipFill>
        <p:spPr>
          <a:xfrm>
            <a:off x="781812" y="3662172"/>
            <a:ext cx="283464" cy="283464"/>
          </a:xfrm>
          <a:prstGeom prst="rect">
            <a:avLst/>
          </a:prstGeom>
        </p:spPr>
      </p:pic>
      <p:sp>
        <p:nvSpPr>
          <p:cNvPr id="14" name="Text 9"/>
          <p:cNvSpPr txBox="1"/>
          <p:nvPr/>
        </p:nvSpPr>
        <p:spPr>
          <a:xfrm>
            <a:off x="1417320" y="3520440"/>
            <a:ext cx="5120640" cy="566928"/>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vite hvordan du melder inn behov og bidrar</a:t>
            </a:r>
            <a:endParaRPr lang="en-US" sz="1700" dirty="0"/>
          </a:p>
        </p:txBody>
      </p:sp>
      <p:sp>
        <p:nvSpPr>
          <p:cNvPr id="15" name="Text 10"/>
          <p:cNvSpPr txBox="1"/>
          <p:nvPr/>
        </p:nvSpPr>
        <p:spPr>
          <a:xfrm>
            <a:off x="640080" y="4572000"/>
            <a:ext cx="5669280" cy="548640"/>
          </a:xfrm>
          <a:prstGeom prst="rect">
            <a:avLst/>
          </a:prstGeom>
          <a:noFill/>
          <a:ln/>
        </p:spPr>
        <p:txBody>
          <a:bodyPr wrap="square" lIns="0" tIns="0" rIns="0" bIns="0" rtlCol="0" anchor="ctr"/>
          <a:lstStyle/>
          <a:p>
            <a:pPr indent="0" marL="0">
              <a:buNone/>
            </a:pPr>
            <a:r>
              <a:rPr lang="en-US" sz="1200" i="1" dirty="0">
                <a:solidFill>
                  <a:srgbClr val="66737F"/>
                </a:solidFill>
                <a:latin typeface="Calibri" pitchFamily="34" charset="0"/>
                <a:ea typeface="Calibri" pitchFamily="34" charset="-122"/>
                <a:cs typeface="Calibri" pitchFamily="34" charset="-120"/>
              </a:rPr>
              <a:t>Læringsmålene er lovnaden vår – vi sjekker dem på slutten.</a:t>
            </a:r>
            <a:endParaRPr lang="en-US" sz="1200" dirty="0"/>
          </a:p>
        </p:txBody>
      </p:sp>
      <p:sp>
        <p:nvSpPr>
          <p:cNvPr id="16" name="Shape 11"/>
          <p:cNvSpPr/>
          <p:nvPr/>
        </p:nvSpPr>
        <p:spPr>
          <a:xfrm>
            <a:off x="6949440" y="1417320"/>
            <a:ext cx="4602175" cy="4206240"/>
          </a:xfrm>
          <a:prstGeom prst="roundRect">
            <a:avLst>
              <a:gd name="adj" fmla="val 2609"/>
            </a:avLst>
          </a:prstGeom>
          <a:solidFill>
            <a:srgbClr val="F4F7FA"/>
          </a:solidFill>
          <a:ln w="12700">
            <a:solidFill>
              <a:srgbClr val="F4F7FA"/>
            </a:solidFill>
            <a:prstDash val="solid"/>
          </a:ln>
        </p:spPr>
      </p:sp>
      <p:sp>
        <p:nvSpPr>
          <p:cNvPr id="17" name="Text 12"/>
          <p:cNvSpPr txBox="1"/>
          <p:nvPr/>
        </p:nvSpPr>
        <p:spPr>
          <a:xfrm>
            <a:off x="7269480" y="1645920"/>
            <a:ext cx="2743200" cy="274320"/>
          </a:xfrm>
          <a:prstGeom prst="rect">
            <a:avLst/>
          </a:prstGeom>
          <a:noFill/>
          <a:ln/>
        </p:spPr>
        <p:txBody>
          <a:bodyPr wrap="square" lIns="0" tIns="0" rIns="0" bIns="0" rtlCol="0" anchor="ctr"/>
          <a:lstStyle/>
          <a:p>
            <a:pPr indent="0" marL="0">
              <a:buNone/>
            </a:pPr>
            <a:r>
              <a:rPr lang="en-US" sz="1000" b="1" spc="200" kern="0" dirty="0">
                <a:solidFill>
                  <a:srgbClr val="3F6E93"/>
                </a:solidFill>
                <a:latin typeface="Calibri" pitchFamily="34" charset="0"/>
                <a:ea typeface="Calibri" pitchFamily="34" charset="-122"/>
                <a:cs typeface="Calibri" pitchFamily="34" charset="-120"/>
              </a:rPr>
              <a:t>PLAN</a:t>
            </a:r>
            <a:endParaRPr lang="en-US" sz="1000" dirty="0"/>
          </a:p>
        </p:txBody>
      </p:sp>
      <p:sp>
        <p:nvSpPr>
          <p:cNvPr id="18" name="Shape 13"/>
          <p:cNvSpPr/>
          <p:nvPr/>
        </p:nvSpPr>
        <p:spPr>
          <a:xfrm>
            <a:off x="7269480" y="2147316"/>
            <a:ext cx="384048" cy="384048"/>
          </a:xfrm>
          <a:prstGeom prst="ellipse">
            <a:avLst/>
          </a:prstGeom>
          <a:solidFill>
            <a:srgbClr val="E0A526"/>
          </a:solidFill>
          <a:ln w="12700">
            <a:solidFill>
              <a:srgbClr val="E0A526"/>
            </a:solidFill>
            <a:prstDash val="solid"/>
          </a:ln>
        </p:spPr>
      </p:sp>
      <p:sp>
        <p:nvSpPr>
          <p:cNvPr id="19" name="Text 14"/>
          <p:cNvSpPr txBox="1"/>
          <p:nvPr/>
        </p:nvSpPr>
        <p:spPr>
          <a:xfrm>
            <a:off x="7269480" y="2147316"/>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1</a:t>
            </a:r>
            <a:endParaRPr lang="en-US" sz="1400" dirty="0"/>
          </a:p>
        </p:txBody>
      </p:sp>
      <p:sp>
        <p:nvSpPr>
          <p:cNvPr id="20" name="Text 15"/>
          <p:cNvSpPr txBox="1"/>
          <p:nvPr/>
        </p:nvSpPr>
        <p:spPr>
          <a:xfrm>
            <a:off x="7818120" y="2057400"/>
            <a:ext cx="2407615" cy="5638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Hvorfor utviklingsarbeid</a:t>
            </a:r>
            <a:endParaRPr lang="en-US" sz="1500" dirty="0"/>
          </a:p>
        </p:txBody>
      </p:sp>
      <p:sp>
        <p:nvSpPr>
          <p:cNvPr id="21" name="Text 16"/>
          <p:cNvSpPr txBox="1"/>
          <p:nvPr/>
        </p:nvSpPr>
        <p:spPr>
          <a:xfrm>
            <a:off x="10225735" y="2057400"/>
            <a:ext cx="1005840" cy="563880"/>
          </a:xfrm>
          <a:prstGeom prst="rect">
            <a:avLst/>
          </a:prstGeom>
          <a:noFill/>
          <a:ln/>
        </p:spPr>
        <p:txBody>
          <a:bodyPr wrap="square" lIns="0" tIns="0" rIns="0" bIns="0" rtlCol="0" anchor="ctr"/>
          <a:lstStyle/>
          <a:p>
            <a:pPr algn="r" indent="0" marL="0">
              <a:buNone/>
            </a:pPr>
            <a:r>
              <a:rPr lang="en-US" sz="1300" dirty="0">
                <a:solidFill>
                  <a:srgbClr val="66737F"/>
                </a:solidFill>
                <a:latin typeface="Calibri" pitchFamily="34" charset="0"/>
                <a:ea typeface="Calibri" pitchFamily="34" charset="-122"/>
                <a:cs typeface="Calibri" pitchFamily="34" charset="-120"/>
              </a:rPr>
              <a:t>5 min</a:t>
            </a:r>
            <a:endParaRPr lang="en-US" sz="1300" dirty="0"/>
          </a:p>
        </p:txBody>
      </p:sp>
      <p:sp>
        <p:nvSpPr>
          <p:cNvPr id="22" name="Shape 17"/>
          <p:cNvSpPr/>
          <p:nvPr/>
        </p:nvSpPr>
        <p:spPr>
          <a:xfrm>
            <a:off x="7269480" y="2711196"/>
            <a:ext cx="384048" cy="384048"/>
          </a:xfrm>
          <a:prstGeom prst="ellipse">
            <a:avLst/>
          </a:prstGeom>
          <a:solidFill>
            <a:srgbClr val="E0A526"/>
          </a:solidFill>
          <a:ln w="12700">
            <a:solidFill>
              <a:srgbClr val="E0A526"/>
            </a:solidFill>
            <a:prstDash val="solid"/>
          </a:ln>
        </p:spPr>
      </p:sp>
      <p:sp>
        <p:nvSpPr>
          <p:cNvPr id="23" name="Text 18"/>
          <p:cNvSpPr txBox="1"/>
          <p:nvPr/>
        </p:nvSpPr>
        <p:spPr>
          <a:xfrm>
            <a:off x="7269480" y="2711196"/>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2</a:t>
            </a:r>
            <a:endParaRPr lang="en-US" sz="1400" dirty="0"/>
          </a:p>
        </p:txBody>
      </p:sp>
      <p:sp>
        <p:nvSpPr>
          <p:cNvPr id="24" name="Text 19"/>
          <p:cNvSpPr txBox="1"/>
          <p:nvPr/>
        </p:nvSpPr>
        <p:spPr>
          <a:xfrm>
            <a:off x="7818120" y="2621280"/>
            <a:ext cx="2407615" cy="5638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Hva er RF Studio</a:t>
            </a:r>
            <a:endParaRPr lang="en-US" sz="1500" dirty="0"/>
          </a:p>
        </p:txBody>
      </p:sp>
      <p:sp>
        <p:nvSpPr>
          <p:cNvPr id="25" name="Text 20"/>
          <p:cNvSpPr txBox="1"/>
          <p:nvPr/>
        </p:nvSpPr>
        <p:spPr>
          <a:xfrm>
            <a:off x="10225735" y="2621280"/>
            <a:ext cx="1005840" cy="563880"/>
          </a:xfrm>
          <a:prstGeom prst="rect">
            <a:avLst/>
          </a:prstGeom>
          <a:noFill/>
          <a:ln/>
        </p:spPr>
        <p:txBody>
          <a:bodyPr wrap="square" lIns="0" tIns="0" rIns="0" bIns="0" rtlCol="0" anchor="ctr"/>
          <a:lstStyle/>
          <a:p>
            <a:pPr algn="r" indent="0" marL="0">
              <a:buNone/>
            </a:pPr>
            <a:r>
              <a:rPr lang="en-US" sz="1300" dirty="0">
                <a:solidFill>
                  <a:srgbClr val="66737F"/>
                </a:solidFill>
                <a:latin typeface="Calibri" pitchFamily="34" charset="0"/>
                <a:ea typeface="Calibri" pitchFamily="34" charset="-122"/>
                <a:cs typeface="Calibri" pitchFamily="34" charset="-120"/>
              </a:rPr>
              <a:t>6 min</a:t>
            </a:r>
            <a:endParaRPr lang="en-US" sz="1300" dirty="0"/>
          </a:p>
        </p:txBody>
      </p:sp>
      <p:sp>
        <p:nvSpPr>
          <p:cNvPr id="26" name="Shape 21"/>
          <p:cNvSpPr/>
          <p:nvPr/>
        </p:nvSpPr>
        <p:spPr>
          <a:xfrm>
            <a:off x="7269480" y="3275076"/>
            <a:ext cx="384048" cy="384048"/>
          </a:xfrm>
          <a:prstGeom prst="ellipse">
            <a:avLst/>
          </a:prstGeom>
          <a:solidFill>
            <a:srgbClr val="E0A526"/>
          </a:solidFill>
          <a:ln w="12700">
            <a:solidFill>
              <a:srgbClr val="E0A526"/>
            </a:solidFill>
            <a:prstDash val="solid"/>
          </a:ln>
        </p:spPr>
      </p:sp>
      <p:sp>
        <p:nvSpPr>
          <p:cNvPr id="27" name="Text 22"/>
          <p:cNvSpPr txBox="1"/>
          <p:nvPr/>
        </p:nvSpPr>
        <p:spPr>
          <a:xfrm>
            <a:off x="7269480" y="3275076"/>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3</a:t>
            </a:r>
            <a:endParaRPr lang="en-US" sz="1400" dirty="0"/>
          </a:p>
        </p:txBody>
      </p:sp>
      <p:sp>
        <p:nvSpPr>
          <p:cNvPr id="28" name="Text 23"/>
          <p:cNvSpPr txBox="1"/>
          <p:nvPr/>
        </p:nvSpPr>
        <p:spPr>
          <a:xfrm>
            <a:off x="7818120" y="3185160"/>
            <a:ext cx="2407615" cy="5638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Slik jobber vi</a:t>
            </a:r>
            <a:endParaRPr lang="en-US" sz="1500" dirty="0"/>
          </a:p>
        </p:txBody>
      </p:sp>
      <p:sp>
        <p:nvSpPr>
          <p:cNvPr id="29" name="Text 24"/>
          <p:cNvSpPr txBox="1"/>
          <p:nvPr/>
        </p:nvSpPr>
        <p:spPr>
          <a:xfrm>
            <a:off x="10225735" y="3185160"/>
            <a:ext cx="1005840" cy="563880"/>
          </a:xfrm>
          <a:prstGeom prst="rect">
            <a:avLst/>
          </a:prstGeom>
          <a:noFill/>
          <a:ln/>
        </p:spPr>
        <p:txBody>
          <a:bodyPr wrap="square" lIns="0" tIns="0" rIns="0" bIns="0" rtlCol="0" anchor="ctr"/>
          <a:lstStyle/>
          <a:p>
            <a:pPr algn="r" indent="0" marL="0">
              <a:buNone/>
            </a:pPr>
            <a:r>
              <a:rPr lang="en-US" sz="1300" dirty="0">
                <a:solidFill>
                  <a:srgbClr val="66737F"/>
                </a:solidFill>
                <a:latin typeface="Calibri" pitchFamily="34" charset="0"/>
                <a:ea typeface="Calibri" pitchFamily="34" charset="-122"/>
                <a:cs typeface="Calibri" pitchFamily="34" charset="-120"/>
              </a:rPr>
              <a:t>6 min</a:t>
            </a:r>
            <a:endParaRPr lang="en-US" sz="1300" dirty="0"/>
          </a:p>
        </p:txBody>
      </p:sp>
      <p:sp>
        <p:nvSpPr>
          <p:cNvPr id="30" name="Shape 25"/>
          <p:cNvSpPr/>
          <p:nvPr/>
        </p:nvSpPr>
        <p:spPr>
          <a:xfrm>
            <a:off x="7269480" y="3838956"/>
            <a:ext cx="384048" cy="384048"/>
          </a:xfrm>
          <a:prstGeom prst="ellipse">
            <a:avLst/>
          </a:prstGeom>
          <a:solidFill>
            <a:srgbClr val="E0A526"/>
          </a:solidFill>
          <a:ln w="12700">
            <a:solidFill>
              <a:srgbClr val="E0A526"/>
            </a:solidFill>
            <a:prstDash val="solid"/>
          </a:ln>
        </p:spPr>
      </p:sp>
      <p:sp>
        <p:nvSpPr>
          <p:cNvPr id="31" name="Text 26"/>
          <p:cNvSpPr txBox="1"/>
          <p:nvPr/>
        </p:nvSpPr>
        <p:spPr>
          <a:xfrm>
            <a:off x="7269480" y="3838956"/>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4</a:t>
            </a:r>
            <a:endParaRPr lang="en-US" sz="1400" dirty="0"/>
          </a:p>
        </p:txBody>
      </p:sp>
      <p:sp>
        <p:nvSpPr>
          <p:cNvPr id="32" name="Text 27"/>
          <p:cNvSpPr txBox="1"/>
          <p:nvPr/>
        </p:nvSpPr>
        <p:spPr>
          <a:xfrm>
            <a:off x="7818120" y="3749040"/>
            <a:ext cx="2407615" cy="5638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To eksempler</a:t>
            </a:r>
            <a:endParaRPr lang="en-US" sz="1500" dirty="0"/>
          </a:p>
        </p:txBody>
      </p:sp>
      <p:sp>
        <p:nvSpPr>
          <p:cNvPr id="33" name="Text 28"/>
          <p:cNvSpPr txBox="1"/>
          <p:nvPr/>
        </p:nvSpPr>
        <p:spPr>
          <a:xfrm>
            <a:off x="10225735" y="3749040"/>
            <a:ext cx="1005840" cy="563880"/>
          </a:xfrm>
          <a:prstGeom prst="rect">
            <a:avLst/>
          </a:prstGeom>
          <a:noFill/>
          <a:ln/>
        </p:spPr>
        <p:txBody>
          <a:bodyPr wrap="square" lIns="0" tIns="0" rIns="0" bIns="0" rtlCol="0" anchor="ctr"/>
          <a:lstStyle/>
          <a:p>
            <a:pPr algn="r" indent="0" marL="0">
              <a:buNone/>
            </a:pPr>
            <a:r>
              <a:rPr lang="en-US" sz="1300" dirty="0">
                <a:solidFill>
                  <a:srgbClr val="66737F"/>
                </a:solidFill>
                <a:latin typeface="Calibri" pitchFamily="34" charset="0"/>
                <a:ea typeface="Calibri" pitchFamily="34" charset="-122"/>
                <a:cs typeface="Calibri" pitchFamily="34" charset="-120"/>
              </a:rPr>
              <a:t>5 min</a:t>
            </a:r>
            <a:endParaRPr lang="en-US" sz="1300" dirty="0"/>
          </a:p>
        </p:txBody>
      </p:sp>
      <p:sp>
        <p:nvSpPr>
          <p:cNvPr id="34" name="Shape 29"/>
          <p:cNvSpPr/>
          <p:nvPr/>
        </p:nvSpPr>
        <p:spPr>
          <a:xfrm>
            <a:off x="7269480" y="4402836"/>
            <a:ext cx="384048" cy="384048"/>
          </a:xfrm>
          <a:prstGeom prst="ellipse">
            <a:avLst/>
          </a:prstGeom>
          <a:solidFill>
            <a:srgbClr val="E0A526"/>
          </a:solidFill>
          <a:ln w="12700">
            <a:solidFill>
              <a:srgbClr val="E0A526"/>
            </a:solidFill>
            <a:prstDash val="solid"/>
          </a:ln>
        </p:spPr>
      </p:sp>
      <p:sp>
        <p:nvSpPr>
          <p:cNvPr id="35" name="Text 30"/>
          <p:cNvSpPr txBox="1"/>
          <p:nvPr/>
        </p:nvSpPr>
        <p:spPr>
          <a:xfrm>
            <a:off x="7269480" y="4402836"/>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5</a:t>
            </a:r>
            <a:endParaRPr lang="en-US" sz="1400" dirty="0"/>
          </a:p>
        </p:txBody>
      </p:sp>
      <p:sp>
        <p:nvSpPr>
          <p:cNvPr id="36" name="Text 31"/>
          <p:cNvSpPr txBox="1"/>
          <p:nvPr/>
        </p:nvSpPr>
        <p:spPr>
          <a:xfrm>
            <a:off x="7818120" y="4312920"/>
            <a:ext cx="2407615" cy="5638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Hva betyr det for deg</a:t>
            </a:r>
            <a:endParaRPr lang="en-US" sz="1500" dirty="0"/>
          </a:p>
        </p:txBody>
      </p:sp>
      <p:sp>
        <p:nvSpPr>
          <p:cNvPr id="37" name="Text 32"/>
          <p:cNvSpPr txBox="1"/>
          <p:nvPr/>
        </p:nvSpPr>
        <p:spPr>
          <a:xfrm>
            <a:off x="10225735" y="4312920"/>
            <a:ext cx="1005840" cy="563880"/>
          </a:xfrm>
          <a:prstGeom prst="rect">
            <a:avLst/>
          </a:prstGeom>
          <a:noFill/>
          <a:ln/>
        </p:spPr>
        <p:txBody>
          <a:bodyPr wrap="square" lIns="0" tIns="0" rIns="0" bIns="0" rtlCol="0" anchor="ctr"/>
          <a:lstStyle/>
          <a:p>
            <a:pPr algn="r" indent="0" marL="0">
              <a:buNone/>
            </a:pPr>
            <a:r>
              <a:rPr lang="en-US" sz="1300" dirty="0">
                <a:solidFill>
                  <a:srgbClr val="66737F"/>
                </a:solidFill>
                <a:latin typeface="Calibri" pitchFamily="34" charset="0"/>
                <a:ea typeface="Calibri" pitchFamily="34" charset="-122"/>
                <a:cs typeface="Calibri" pitchFamily="34" charset="-120"/>
              </a:rPr>
              <a:t>6 min</a:t>
            </a:r>
            <a:endParaRPr lang="en-US" sz="1300" dirty="0"/>
          </a:p>
        </p:txBody>
      </p:sp>
      <p:sp>
        <p:nvSpPr>
          <p:cNvPr id="38" name="Shape 33"/>
          <p:cNvSpPr/>
          <p:nvPr/>
        </p:nvSpPr>
        <p:spPr>
          <a:xfrm>
            <a:off x="7269480" y="4966716"/>
            <a:ext cx="384048" cy="384048"/>
          </a:xfrm>
          <a:prstGeom prst="ellipse">
            <a:avLst/>
          </a:prstGeom>
          <a:solidFill>
            <a:srgbClr val="E0A526"/>
          </a:solidFill>
          <a:ln w="12700">
            <a:solidFill>
              <a:srgbClr val="E0A526"/>
            </a:solidFill>
            <a:prstDash val="solid"/>
          </a:ln>
        </p:spPr>
      </p:sp>
      <p:sp>
        <p:nvSpPr>
          <p:cNvPr id="39" name="Text 34"/>
          <p:cNvSpPr txBox="1"/>
          <p:nvPr/>
        </p:nvSpPr>
        <p:spPr>
          <a:xfrm>
            <a:off x="7269480" y="4966716"/>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6</a:t>
            </a:r>
            <a:endParaRPr lang="en-US" sz="1400" dirty="0"/>
          </a:p>
        </p:txBody>
      </p:sp>
      <p:sp>
        <p:nvSpPr>
          <p:cNvPr id="40" name="Text 35"/>
          <p:cNvSpPr txBox="1"/>
          <p:nvPr/>
        </p:nvSpPr>
        <p:spPr>
          <a:xfrm>
            <a:off x="7818120" y="4876800"/>
            <a:ext cx="2407615" cy="5638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Oppsummering og spørsmål</a:t>
            </a:r>
            <a:endParaRPr lang="en-US" sz="1500" dirty="0"/>
          </a:p>
        </p:txBody>
      </p:sp>
      <p:sp>
        <p:nvSpPr>
          <p:cNvPr id="41" name="Text 36"/>
          <p:cNvSpPr txBox="1"/>
          <p:nvPr/>
        </p:nvSpPr>
        <p:spPr>
          <a:xfrm>
            <a:off x="10225735" y="4876800"/>
            <a:ext cx="1005840" cy="563880"/>
          </a:xfrm>
          <a:prstGeom prst="rect">
            <a:avLst/>
          </a:prstGeom>
          <a:noFill/>
          <a:ln/>
        </p:spPr>
        <p:txBody>
          <a:bodyPr wrap="square" lIns="0" tIns="0" rIns="0" bIns="0" rtlCol="0" anchor="ctr"/>
          <a:lstStyle/>
          <a:p>
            <a:pPr algn="r" indent="0" marL="0">
              <a:buNone/>
            </a:pPr>
            <a:r>
              <a:rPr lang="en-US" sz="1300" dirty="0">
                <a:solidFill>
                  <a:srgbClr val="66737F"/>
                </a:solidFill>
                <a:latin typeface="Calibri" pitchFamily="34" charset="0"/>
                <a:ea typeface="Calibri" pitchFamily="34" charset="-122"/>
                <a:cs typeface="Calibri" pitchFamily="34" charset="-120"/>
              </a:rPr>
              <a:t>2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83C"/>
        </a:solidFill>
      </p:bgPr>
    </p:bg>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Politiets lokaler i tall</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E0A526"/>
                </a:solidFill>
                <a:latin typeface="Calibri" pitchFamily="34" charset="0"/>
                <a:ea typeface="Calibri" pitchFamily="34" charset="-122"/>
                <a:cs typeface="Calibri" pitchFamily="34" charset="-120"/>
              </a:rPr>
              <a:t>HVORFOR</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8FA3B5"/>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3 / 18</a:t>
            </a:r>
            <a:endParaRPr lang="en-US" sz="900" dirty="0"/>
          </a:p>
        </p:txBody>
      </p:sp>
      <p:sp>
        <p:nvSpPr>
          <p:cNvPr id="6" name="Text 4"/>
          <p:cNvSpPr txBox="1"/>
          <p:nvPr/>
        </p:nvSpPr>
        <p:spPr>
          <a:xfrm>
            <a:off x="640080" y="1737360"/>
            <a:ext cx="3454298" cy="1188720"/>
          </a:xfrm>
          <a:prstGeom prst="rect">
            <a:avLst/>
          </a:prstGeom>
          <a:noFill/>
          <a:ln/>
        </p:spPr>
        <p:txBody>
          <a:bodyPr wrap="square" lIns="0" tIns="0" rIns="0" bIns="0" rtlCol="0" anchor="b"/>
          <a:lstStyle/>
          <a:p>
            <a:pPr indent="0" marL="0">
              <a:buNone/>
            </a:pPr>
            <a:r>
              <a:rPr lang="en-US" sz="6000" b="1" dirty="0">
                <a:solidFill>
                  <a:srgbClr val="E0A526"/>
                </a:solidFill>
                <a:latin typeface="Cambria" pitchFamily="34" charset="0"/>
                <a:ea typeface="Cambria" pitchFamily="34" charset="-122"/>
                <a:cs typeface="Cambria" pitchFamily="34" charset="-120"/>
              </a:rPr>
              <a:t>780 000</a:t>
            </a:r>
            <a:endParaRPr lang="en-US" sz="6000" dirty="0"/>
          </a:p>
        </p:txBody>
      </p:sp>
      <p:sp>
        <p:nvSpPr>
          <p:cNvPr id="7" name="Text 5"/>
          <p:cNvSpPr txBox="1"/>
          <p:nvPr/>
        </p:nvSpPr>
        <p:spPr>
          <a:xfrm>
            <a:off x="640080" y="2971800"/>
            <a:ext cx="3179978" cy="640080"/>
          </a:xfrm>
          <a:prstGeom prst="rect">
            <a:avLst/>
          </a:prstGeom>
          <a:noFill/>
          <a:ln/>
        </p:spPr>
        <p:txBody>
          <a:bodyPr wrap="square" lIns="0" tIns="0" rIns="0" bIns="0" rtlCol="0" anchor="t"/>
          <a:lstStyle/>
          <a:p>
            <a:pPr indent="0" marL="0">
              <a:buNone/>
            </a:pPr>
            <a:r>
              <a:rPr lang="en-US" sz="1600" dirty="0">
                <a:solidFill>
                  <a:srgbClr val="DCE6EF"/>
                </a:solidFill>
                <a:latin typeface="Calibri" pitchFamily="34" charset="0"/>
                <a:ea typeface="Calibri" pitchFamily="34" charset="-122"/>
                <a:cs typeface="Calibri" pitchFamily="34" charset="-120"/>
              </a:rPr>
              <a:t>m² i porteføljen</a:t>
            </a:r>
            <a:endParaRPr lang="en-US" sz="1600" dirty="0"/>
          </a:p>
        </p:txBody>
      </p:sp>
      <p:sp>
        <p:nvSpPr>
          <p:cNvPr id="8" name="Text 6"/>
          <p:cNvSpPr txBox="1"/>
          <p:nvPr/>
        </p:nvSpPr>
        <p:spPr>
          <a:xfrm>
            <a:off x="4368698" y="1737360"/>
            <a:ext cx="3454298" cy="1188720"/>
          </a:xfrm>
          <a:prstGeom prst="rect">
            <a:avLst/>
          </a:prstGeom>
          <a:noFill/>
          <a:ln/>
        </p:spPr>
        <p:txBody>
          <a:bodyPr wrap="square" lIns="0" tIns="0" rIns="0" bIns="0" rtlCol="0" anchor="b"/>
          <a:lstStyle/>
          <a:p>
            <a:pPr indent="0" marL="0">
              <a:buNone/>
            </a:pPr>
            <a:r>
              <a:rPr lang="en-US" sz="6000" b="1" dirty="0">
                <a:solidFill>
                  <a:srgbClr val="E0A526"/>
                </a:solidFill>
                <a:latin typeface="Cambria" pitchFamily="34" charset="0"/>
                <a:ea typeface="Cambria" pitchFamily="34" charset="-122"/>
                <a:cs typeface="Cambria" pitchFamily="34" charset="-120"/>
              </a:rPr>
              <a:t>350</a:t>
            </a:r>
            <a:endParaRPr lang="en-US" sz="6000" dirty="0"/>
          </a:p>
        </p:txBody>
      </p:sp>
      <p:sp>
        <p:nvSpPr>
          <p:cNvPr id="9" name="Text 7"/>
          <p:cNvSpPr txBox="1"/>
          <p:nvPr/>
        </p:nvSpPr>
        <p:spPr>
          <a:xfrm>
            <a:off x="4368698" y="2971800"/>
            <a:ext cx="3179978" cy="640080"/>
          </a:xfrm>
          <a:prstGeom prst="rect">
            <a:avLst/>
          </a:prstGeom>
          <a:noFill/>
          <a:ln/>
        </p:spPr>
        <p:txBody>
          <a:bodyPr wrap="square" lIns="0" tIns="0" rIns="0" bIns="0" rtlCol="0" anchor="t"/>
          <a:lstStyle/>
          <a:p>
            <a:pPr indent="0" marL="0">
              <a:buNone/>
            </a:pPr>
            <a:r>
              <a:rPr lang="en-US" sz="1600" dirty="0">
                <a:solidFill>
                  <a:srgbClr val="DCE6EF"/>
                </a:solidFill>
                <a:latin typeface="Calibri" pitchFamily="34" charset="0"/>
                <a:ea typeface="Calibri" pitchFamily="34" charset="-122"/>
                <a:cs typeface="Calibri" pitchFamily="34" charset="-120"/>
              </a:rPr>
              <a:t>lokasjoner over hele landet</a:t>
            </a:r>
            <a:endParaRPr lang="en-US" sz="1600" dirty="0"/>
          </a:p>
        </p:txBody>
      </p:sp>
      <p:sp>
        <p:nvSpPr>
          <p:cNvPr id="10" name="Text 8"/>
          <p:cNvSpPr txBox="1"/>
          <p:nvPr/>
        </p:nvSpPr>
        <p:spPr>
          <a:xfrm>
            <a:off x="8097317" y="1737360"/>
            <a:ext cx="3454298" cy="1188720"/>
          </a:xfrm>
          <a:prstGeom prst="rect">
            <a:avLst/>
          </a:prstGeom>
          <a:noFill/>
          <a:ln/>
        </p:spPr>
        <p:txBody>
          <a:bodyPr wrap="square" lIns="0" tIns="0" rIns="0" bIns="0" rtlCol="0" anchor="b"/>
          <a:lstStyle/>
          <a:p>
            <a:pPr indent="0" marL="0">
              <a:buNone/>
            </a:pPr>
            <a:r>
              <a:rPr lang="en-US" sz="6000" b="1" dirty="0">
                <a:solidFill>
                  <a:srgbClr val="E0A526"/>
                </a:solidFill>
                <a:latin typeface="Cambria" pitchFamily="34" charset="0"/>
                <a:ea typeface="Cambria" pitchFamily="34" charset="-122"/>
                <a:cs typeface="Cambria" pitchFamily="34" charset="-120"/>
              </a:rPr>
              <a:t>1</a:t>
            </a:r>
            <a:endParaRPr lang="en-US" sz="6000" dirty="0"/>
          </a:p>
        </p:txBody>
      </p:sp>
      <p:sp>
        <p:nvSpPr>
          <p:cNvPr id="11" name="Text 9"/>
          <p:cNvSpPr txBox="1"/>
          <p:nvPr/>
        </p:nvSpPr>
        <p:spPr>
          <a:xfrm>
            <a:off x="8097317" y="2971800"/>
            <a:ext cx="3179978" cy="640080"/>
          </a:xfrm>
          <a:prstGeom prst="rect">
            <a:avLst/>
          </a:prstGeom>
          <a:noFill/>
          <a:ln/>
        </p:spPr>
        <p:txBody>
          <a:bodyPr wrap="square" lIns="0" tIns="0" rIns="0" bIns="0" rtlCol="0" anchor="t"/>
          <a:lstStyle/>
          <a:p>
            <a:pPr indent="0" marL="0">
              <a:buNone/>
            </a:pPr>
            <a:r>
              <a:rPr lang="en-US" sz="1600" dirty="0">
                <a:solidFill>
                  <a:srgbClr val="DCE6EF"/>
                </a:solidFill>
                <a:latin typeface="Calibri" pitchFamily="34" charset="0"/>
                <a:ea typeface="Calibri" pitchFamily="34" charset="-122"/>
                <a:cs typeface="Calibri" pitchFamily="34" charset="-120"/>
              </a:rPr>
              <a:t>samfunnsoppdrag som lokalene skal støtte</a:t>
            </a:r>
            <a:endParaRPr lang="en-US" sz="1600" dirty="0"/>
          </a:p>
        </p:txBody>
      </p:sp>
      <p:sp>
        <p:nvSpPr>
          <p:cNvPr id="12" name="Shape 10"/>
          <p:cNvSpPr/>
          <p:nvPr/>
        </p:nvSpPr>
        <p:spPr>
          <a:xfrm>
            <a:off x="640080" y="4160520"/>
            <a:ext cx="10911535" cy="1371600"/>
          </a:xfrm>
          <a:prstGeom prst="roundRect">
            <a:avLst>
              <a:gd name="adj" fmla="val 8000"/>
            </a:avLst>
          </a:prstGeom>
          <a:solidFill>
            <a:srgbClr val="1D3750"/>
          </a:solidFill>
          <a:ln w="12700">
            <a:solidFill>
              <a:srgbClr val="1D3750"/>
            </a:solidFill>
            <a:prstDash val="solid"/>
          </a:ln>
        </p:spPr>
      </p:sp>
      <p:sp>
        <p:nvSpPr>
          <p:cNvPr id="13" name="Text 11"/>
          <p:cNvSpPr txBox="1"/>
          <p:nvPr/>
        </p:nvSpPr>
        <p:spPr>
          <a:xfrm>
            <a:off x="1005840" y="4343400"/>
            <a:ext cx="3657600" cy="365760"/>
          </a:xfrm>
          <a:prstGeom prst="rect">
            <a:avLst/>
          </a:prstGeom>
          <a:noFill/>
          <a:ln/>
        </p:spPr>
        <p:txBody>
          <a:bodyPr wrap="square" lIns="0" tIns="0" rIns="0" bIns="0" rtlCol="0" anchor="ctr"/>
          <a:lstStyle/>
          <a:p>
            <a:pPr indent="0" marL="0">
              <a:buNone/>
            </a:pPr>
            <a:r>
              <a:rPr lang="en-US" sz="1200" b="1" spc="100" kern="0" dirty="0">
                <a:solidFill>
                  <a:srgbClr val="E0A526"/>
                </a:solidFill>
                <a:latin typeface="Calibri" pitchFamily="34" charset="0"/>
                <a:ea typeface="Calibri" pitchFamily="34" charset="-122"/>
                <a:cs typeface="Calibri" pitchFamily="34" charset="-120"/>
              </a:rPr>
              <a:t>Spørsmål til salen:</a:t>
            </a:r>
            <a:endParaRPr lang="en-US" sz="1200" dirty="0"/>
          </a:p>
        </p:txBody>
      </p:sp>
      <p:sp>
        <p:nvSpPr>
          <p:cNvPr id="14" name="Text 12"/>
          <p:cNvSpPr txBox="1"/>
          <p:nvPr/>
        </p:nvSpPr>
        <p:spPr>
          <a:xfrm>
            <a:off x="1005840" y="4709160"/>
            <a:ext cx="10180015" cy="640080"/>
          </a:xfrm>
          <a:prstGeom prst="rect">
            <a:avLst/>
          </a:prstGeom>
          <a:noFill/>
          <a:ln/>
        </p:spPr>
        <p:txBody>
          <a:bodyPr wrap="square" lIns="0" tIns="0" rIns="0" bIns="0" rtlCol="0" anchor="t"/>
          <a:lstStyle/>
          <a:p>
            <a:pPr indent="0" marL="0">
              <a:buNone/>
            </a:pPr>
            <a:r>
              <a:rPr lang="en-US" sz="2000" dirty="0">
                <a:solidFill>
                  <a:srgbClr val="FFFFFF"/>
                </a:solidFill>
                <a:latin typeface="Cambria" pitchFamily="34" charset="0"/>
                <a:ea typeface="Cambria" pitchFamily="34" charset="-122"/>
                <a:cs typeface="Cambria" pitchFamily="34" charset="-120"/>
              </a:rPr>
              <a:t>Hvor ofte løser du et problem lokalt som du mistenker at noen andre allerede har løst et annet sted?</a:t>
            </a:r>
            <a:endParaRPr lang="en-US" sz="2000" dirty="0"/>
          </a:p>
        </p:txBody>
      </p:sp>
      <p:sp>
        <p:nvSpPr>
          <p:cNvPr id="15" name="Text 13"/>
          <p:cNvSpPr txBox="1"/>
          <p:nvPr/>
        </p:nvSpPr>
        <p:spPr>
          <a:xfrm>
            <a:off x="640080" y="5806440"/>
            <a:ext cx="7315200" cy="274320"/>
          </a:xfrm>
          <a:prstGeom prst="rect">
            <a:avLst/>
          </a:prstGeom>
          <a:noFill/>
          <a:ln/>
        </p:spPr>
        <p:txBody>
          <a:bodyPr wrap="square" lIns="0" tIns="0" rIns="0" bIns="0" rtlCol="0" anchor="ctr"/>
          <a:lstStyle/>
          <a:p>
            <a:pPr indent="0" marL="0">
              <a:buNone/>
            </a:pPr>
            <a:r>
              <a:rPr lang="en-US" sz="900" dirty="0">
                <a:solidFill>
                  <a:srgbClr val="8FA3B5"/>
                </a:solidFill>
                <a:latin typeface="Calibri" pitchFamily="34" charset="0"/>
                <a:ea typeface="Calibri" pitchFamily="34" charset="-122"/>
                <a:cs typeface="Calibri" pitchFamily="34" charset="-120"/>
              </a:rPr>
              <a:t>Kilde: PFT Eiendom (eiendomsyrker.no). Verifiser tallene før bruk.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Tenk – par – del</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AKTIVITET · 3 MIN</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4 / 18</a:t>
            </a:r>
            <a:endParaRPr lang="en-US" sz="900" dirty="0"/>
          </a:p>
        </p:txBody>
      </p:sp>
      <p:sp>
        <p:nvSpPr>
          <p:cNvPr id="6" name="Shape 4"/>
          <p:cNvSpPr/>
          <p:nvPr/>
        </p:nvSpPr>
        <p:spPr>
          <a:xfrm>
            <a:off x="640080" y="1463040"/>
            <a:ext cx="10911535" cy="1463040"/>
          </a:xfrm>
          <a:prstGeom prst="roundRect">
            <a:avLst>
              <a:gd name="adj" fmla="val 7500"/>
            </a:avLst>
          </a:prstGeom>
          <a:solidFill>
            <a:srgbClr val="EAF0F5"/>
          </a:solidFill>
          <a:ln w="12700">
            <a:solidFill>
              <a:srgbClr val="EAF0F5"/>
            </a:solidFill>
            <a:prstDash val="solid"/>
          </a:ln>
        </p:spPr>
      </p:sp>
      <p:sp>
        <p:nvSpPr>
          <p:cNvPr id="7" name="Text 5"/>
          <p:cNvSpPr txBox="1"/>
          <p:nvPr/>
        </p:nvSpPr>
        <p:spPr>
          <a:xfrm>
            <a:off x="1005840" y="1645920"/>
            <a:ext cx="10180015" cy="1097280"/>
          </a:xfrm>
          <a:prstGeom prst="rect">
            <a:avLst/>
          </a:prstGeom>
          <a:noFill/>
          <a:ln/>
        </p:spPr>
        <p:txBody>
          <a:bodyPr wrap="square" lIns="0" tIns="0" rIns="0" bIns="0" rtlCol="0" anchor="ctr"/>
          <a:lstStyle/>
          <a:p>
            <a:pPr indent="0" marL="0">
              <a:buNone/>
            </a:pPr>
            <a:r>
              <a:rPr lang="en-US" sz="2400" dirty="0">
                <a:solidFill>
                  <a:srgbClr val="14283C"/>
                </a:solidFill>
                <a:latin typeface="Cambria" pitchFamily="34" charset="0"/>
                <a:ea typeface="Cambria" pitchFamily="34" charset="-122"/>
                <a:cs typeface="Cambria" pitchFamily="34" charset="-120"/>
              </a:rPr>
              <a:t>Hva er det mest tidkrevende du løser lokalt i dag – som burde vært løst én gang for alle?</a:t>
            </a:r>
            <a:endParaRPr lang="en-US" sz="2400" dirty="0"/>
          </a:p>
        </p:txBody>
      </p:sp>
      <p:sp>
        <p:nvSpPr>
          <p:cNvPr id="8" name="Shape 6"/>
          <p:cNvSpPr/>
          <p:nvPr/>
        </p:nvSpPr>
        <p:spPr>
          <a:xfrm>
            <a:off x="640080" y="3246120"/>
            <a:ext cx="3454298" cy="2286000"/>
          </a:xfrm>
          <a:prstGeom prst="roundRect">
            <a:avLst>
              <a:gd name="adj" fmla="val 4800"/>
            </a:avLst>
          </a:prstGeom>
          <a:solidFill>
            <a:srgbClr val="F4F7FA"/>
          </a:solidFill>
          <a:ln w="12700">
            <a:solidFill>
              <a:srgbClr val="F4F7FA"/>
            </a:solidFill>
            <a:prstDash val="solid"/>
          </a:ln>
        </p:spPr>
      </p:sp>
      <p:sp>
        <p:nvSpPr>
          <p:cNvPr id="9" name="Text 7"/>
          <p:cNvSpPr txBox="1"/>
          <p:nvPr/>
        </p:nvSpPr>
        <p:spPr>
          <a:xfrm>
            <a:off x="914400" y="3429000"/>
            <a:ext cx="1828800" cy="274320"/>
          </a:xfrm>
          <a:prstGeom prst="rect">
            <a:avLst/>
          </a:prstGeom>
          <a:noFill/>
          <a:ln/>
        </p:spPr>
        <p:txBody>
          <a:bodyPr wrap="square" lIns="0" tIns="0" rIns="0" bIns="0" rtlCol="0" anchor="ctr"/>
          <a:lstStyle/>
          <a:p>
            <a:pPr indent="0" marL="0">
              <a:buNone/>
            </a:pPr>
            <a:r>
              <a:rPr lang="en-US" sz="1100" b="1" spc="100" kern="0" dirty="0">
                <a:solidFill>
                  <a:srgbClr val="3F6E93"/>
                </a:solidFill>
                <a:latin typeface="Calibri" pitchFamily="34" charset="0"/>
                <a:ea typeface="Calibri" pitchFamily="34" charset="-122"/>
                <a:cs typeface="Calibri" pitchFamily="34" charset="-120"/>
              </a:rPr>
              <a:t>1 min</a:t>
            </a:r>
            <a:endParaRPr lang="en-US" sz="1100" dirty="0"/>
          </a:p>
        </p:txBody>
      </p:sp>
      <p:sp>
        <p:nvSpPr>
          <p:cNvPr id="10" name="Text 8"/>
          <p:cNvSpPr txBox="1"/>
          <p:nvPr/>
        </p:nvSpPr>
        <p:spPr>
          <a:xfrm>
            <a:off x="914400" y="3749040"/>
            <a:ext cx="2905658" cy="457200"/>
          </a:xfrm>
          <a:prstGeom prst="rect">
            <a:avLst/>
          </a:prstGeom>
          <a:noFill/>
          <a:ln/>
        </p:spPr>
        <p:txBody>
          <a:bodyPr wrap="square" lIns="0" tIns="0" rIns="0" bIns="0" rtlCol="0" anchor="ctr"/>
          <a:lstStyle/>
          <a:p>
            <a:pPr indent="0" marL="0">
              <a:buNone/>
            </a:pPr>
            <a:r>
              <a:rPr lang="en-US" sz="2200" b="1" dirty="0">
                <a:solidFill>
                  <a:srgbClr val="14283C"/>
                </a:solidFill>
                <a:latin typeface="Cambria" pitchFamily="34" charset="0"/>
                <a:ea typeface="Cambria" pitchFamily="34" charset="-122"/>
                <a:cs typeface="Cambria" pitchFamily="34" charset="-120"/>
              </a:rPr>
              <a:t>Tenk</a:t>
            </a:r>
            <a:endParaRPr lang="en-US" sz="2200" dirty="0"/>
          </a:p>
        </p:txBody>
      </p:sp>
      <p:sp>
        <p:nvSpPr>
          <p:cNvPr id="11" name="Text 9"/>
          <p:cNvSpPr txBox="1"/>
          <p:nvPr/>
        </p:nvSpPr>
        <p:spPr>
          <a:xfrm>
            <a:off x="914400" y="4297680"/>
            <a:ext cx="2905658" cy="10972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Skriv ett eksempel på en lapp eller i notatene dine.</a:t>
            </a:r>
            <a:endParaRPr lang="en-US" sz="1400" dirty="0"/>
          </a:p>
        </p:txBody>
      </p:sp>
      <p:sp>
        <p:nvSpPr>
          <p:cNvPr id="12" name="Shape 10"/>
          <p:cNvSpPr/>
          <p:nvPr/>
        </p:nvSpPr>
        <p:spPr>
          <a:xfrm>
            <a:off x="4368698" y="3246120"/>
            <a:ext cx="3454298" cy="2286000"/>
          </a:xfrm>
          <a:prstGeom prst="roundRect">
            <a:avLst>
              <a:gd name="adj" fmla="val 4800"/>
            </a:avLst>
          </a:prstGeom>
          <a:solidFill>
            <a:srgbClr val="F4F7FA"/>
          </a:solidFill>
          <a:ln w="12700">
            <a:solidFill>
              <a:srgbClr val="F4F7FA"/>
            </a:solidFill>
            <a:prstDash val="solid"/>
          </a:ln>
        </p:spPr>
      </p:sp>
      <p:sp>
        <p:nvSpPr>
          <p:cNvPr id="13" name="Text 11"/>
          <p:cNvSpPr txBox="1"/>
          <p:nvPr/>
        </p:nvSpPr>
        <p:spPr>
          <a:xfrm>
            <a:off x="4643018" y="3429000"/>
            <a:ext cx="1828800" cy="274320"/>
          </a:xfrm>
          <a:prstGeom prst="rect">
            <a:avLst/>
          </a:prstGeom>
          <a:noFill/>
          <a:ln/>
        </p:spPr>
        <p:txBody>
          <a:bodyPr wrap="square" lIns="0" tIns="0" rIns="0" bIns="0" rtlCol="0" anchor="ctr"/>
          <a:lstStyle/>
          <a:p>
            <a:pPr indent="0" marL="0">
              <a:buNone/>
            </a:pPr>
            <a:r>
              <a:rPr lang="en-US" sz="1100" b="1" spc="100" kern="0" dirty="0">
                <a:solidFill>
                  <a:srgbClr val="3F6E93"/>
                </a:solidFill>
                <a:latin typeface="Calibri" pitchFamily="34" charset="0"/>
                <a:ea typeface="Calibri" pitchFamily="34" charset="-122"/>
                <a:cs typeface="Calibri" pitchFamily="34" charset="-120"/>
              </a:rPr>
              <a:t>1 min</a:t>
            </a:r>
            <a:endParaRPr lang="en-US" sz="1100" dirty="0"/>
          </a:p>
        </p:txBody>
      </p:sp>
      <p:sp>
        <p:nvSpPr>
          <p:cNvPr id="14" name="Text 12"/>
          <p:cNvSpPr txBox="1"/>
          <p:nvPr/>
        </p:nvSpPr>
        <p:spPr>
          <a:xfrm>
            <a:off x="4643018" y="3749040"/>
            <a:ext cx="2905658" cy="457200"/>
          </a:xfrm>
          <a:prstGeom prst="rect">
            <a:avLst/>
          </a:prstGeom>
          <a:noFill/>
          <a:ln/>
        </p:spPr>
        <p:txBody>
          <a:bodyPr wrap="square" lIns="0" tIns="0" rIns="0" bIns="0" rtlCol="0" anchor="ctr"/>
          <a:lstStyle/>
          <a:p>
            <a:pPr indent="0" marL="0">
              <a:buNone/>
            </a:pPr>
            <a:r>
              <a:rPr lang="en-US" sz="2200" b="1" dirty="0">
                <a:solidFill>
                  <a:srgbClr val="14283C"/>
                </a:solidFill>
                <a:latin typeface="Cambria" pitchFamily="34" charset="0"/>
                <a:ea typeface="Cambria" pitchFamily="34" charset="-122"/>
                <a:cs typeface="Cambria" pitchFamily="34" charset="-120"/>
              </a:rPr>
              <a:t>Par</a:t>
            </a:r>
            <a:endParaRPr lang="en-US" sz="2200" dirty="0"/>
          </a:p>
        </p:txBody>
      </p:sp>
      <p:sp>
        <p:nvSpPr>
          <p:cNvPr id="15" name="Text 13"/>
          <p:cNvSpPr txBox="1"/>
          <p:nvPr/>
        </p:nvSpPr>
        <p:spPr>
          <a:xfrm>
            <a:off x="4643018" y="4297680"/>
            <a:ext cx="2905658" cy="10972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Fortell sidemannen. Er problemet det samme hos dere?</a:t>
            </a:r>
            <a:endParaRPr lang="en-US" sz="1400" dirty="0"/>
          </a:p>
        </p:txBody>
      </p:sp>
      <p:sp>
        <p:nvSpPr>
          <p:cNvPr id="16" name="Shape 14"/>
          <p:cNvSpPr/>
          <p:nvPr/>
        </p:nvSpPr>
        <p:spPr>
          <a:xfrm>
            <a:off x="8097317" y="3246120"/>
            <a:ext cx="3454298" cy="2286000"/>
          </a:xfrm>
          <a:prstGeom prst="roundRect">
            <a:avLst>
              <a:gd name="adj" fmla="val 4800"/>
            </a:avLst>
          </a:prstGeom>
          <a:solidFill>
            <a:srgbClr val="F4F7FA"/>
          </a:solidFill>
          <a:ln w="12700">
            <a:solidFill>
              <a:srgbClr val="F4F7FA"/>
            </a:solidFill>
            <a:prstDash val="solid"/>
          </a:ln>
        </p:spPr>
      </p:sp>
      <p:sp>
        <p:nvSpPr>
          <p:cNvPr id="17" name="Text 15"/>
          <p:cNvSpPr txBox="1"/>
          <p:nvPr/>
        </p:nvSpPr>
        <p:spPr>
          <a:xfrm>
            <a:off x="8371637" y="3429000"/>
            <a:ext cx="1828800" cy="274320"/>
          </a:xfrm>
          <a:prstGeom prst="rect">
            <a:avLst/>
          </a:prstGeom>
          <a:noFill/>
          <a:ln/>
        </p:spPr>
        <p:txBody>
          <a:bodyPr wrap="square" lIns="0" tIns="0" rIns="0" bIns="0" rtlCol="0" anchor="ctr"/>
          <a:lstStyle/>
          <a:p>
            <a:pPr indent="0" marL="0">
              <a:buNone/>
            </a:pPr>
            <a:r>
              <a:rPr lang="en-US" sz="1100" b="1" spc="100" kern="0" dirty="0">
                <a:solidFill>
                  <a:srgbClr val="3F6E93"/>
                </a:solidFill>
                <a:latin typeface="Calibri" pitchFamily="34" charset="0"/>
                <a:ea typeface="Calibri" pitchFamily="34" charset="-122"/>
                <a:cs typeface="Calibri" pitchFamily="34" charset="-120"/>
              </a:rPr>
              <a:t>1 min</a:t>
            </a:r>
            <a:endParaRPr lang="en-US" sz="1100" dirty="0"/>
          </a:p>
        </p:txBody>
      </p:sp>
      <p:sp>
        <p:nvSpPr>
          <p:cNvPr id="18" name="Text 16"/>
          <p:cNvSpPr txBox="1"/>
          <p:nvPr/>
        </p:nvSpPr>
        <p:spPr>
          <a:xfrm>
            <a:off x="8371637" y="3749040"/>
            <a:ext cx="2905658" cy="457200"/>
          </a:xfrm>
          <a:prstGeom prst="rect">
            <a:avLst/>
          </a:prstGeom>
          <a:noFill/>
          <a:ln/>
        </p:spPr>
        <p:txBody>
          <a:bodyPr wrap="square" lIns="0" tIns="0" rIns="0" bIns="0" rtlCol="0" anchor="ctr"/>
          <a:lstStyle/>
          <a:p>
            <a:pPr indent="0" marL="0">
              <a:buNone/>
            </a:pPr>
            <a:r>
              <a:rPr lang="en-US" sz="2200" b="1" dirty="0">
                <a:solidFill>
                  <a:srgbClr val="14283C"/>
                </a:solidFill>
                <a:latin typeface="Cambria" pitchFamily="34" charset="0"/>
                <a:ea typeface="Cambria" pitchFamily="34" charset="-122"/>
                <a:cs typeface="Cambria" pitchFamily="34" charset="-120"/>
              </a:rPr>
              <a:t>Del</a:t>
            </a:r>
            <a:endParaRPr lang="en-US" sz="2200" dirty="0"/>
          </a:p>
        </p:txBody>
      </p:sp>
      <p:sp>
        <p:nvSpPr>
          <p:cNvPr id="19" name="Text 17"/>
          <p:cNvSpPr txBox="1"/>
          <p:nvPr/>
        </p:nvSpPr>
        <p:spPr>
          <a:xfrm>
            <a:off x="8371637" y="4297680"/>
            <a:ext cx="2905658" cy="10972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To–tre eksempler høyt i rommet. Vi noterer alle.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Tre utfordringer vi vil løse sammen</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HVORFOR</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5 / 18</a:t>
            </a:r>
            <a:endParaRPr lang="en-US" sz="900" dirty="0"/>
          </a:p>
        </p:txBody>
      </p:sp>
      <p:sp>
        <p:nvSpPr>
          <p:cNvPr id="6" name="Shape 4"/>
          <p:cNvSpPr/>
          <p:nvPr/>
        </p:nvSpPr>
        <p:spPr>
          <a:xfrm>
            <a:off x="640080" y="1554480"/>
            <a:ext cx="3454298" cy="3108960"/>
          </a:xfrm>
          <a:prstGeom prst="roundRect">
            <a:avLst>
              <a:gd name="adj" fmla="val 3529"/>
            </a:avLst>
          </a:prstGeom>
          <a:solidFill>
            <a:srgbClr val="F4F7FA"/>
          </a:solidFill>
          <a:ln w="12700">
            <a:solidFill>
              <a:srgbClr val="F4F7FA"/>
            </a:solidFill>
            <a:prstDash val="solid"/>
          </a:ln>
        </p:spPr>
      </p:sp>
      <p:sp>
        <p:nvSpPr>
          <p:cNvPr id="7" name="Shape 5"/>
          <p:cNvSpPr/>
          <p:nvPr/>
        </p:nvSpPr>
        <p:spPr>
          <a:xfrm>
            <a:off x="914400" y="1828800"/>
            <a:ext cx="640080" cy="640080"/>
          </a:xfrm>
          <a:prstGeom prst="ellipse">
            <a:avLst/>
          </a:prstGeom>
          <a:solidFill>
            <a:srgbClr val="14283C"/>
          </a:solidFill>
          <a:ln w="12700">
            <a:solidFill>
              <a:srgbClr val="14283C"/>
            </a:solidFill>
            <a:prstDash val="solid"/>
          </a:ln>
        </p:spPr>
      </p:sp>
      <p:pic>
        <p:nvPicPr>
          <p:cNvPr id="8" name="Image 0" descr="preencoded.png">    </p:cNvPr>
          <p:cNvPicPr>
            <a:picLocks noChangeAspect="1"/>
          </p:cNvPicPr>
          <p:nvPr/>
        </p:nvPicPr>
        <p:blipFill>
          <a:blip r:embed="rId1"/>
          <a:stretch>
            <a:fillRect/>
          </a:stretch>
        </p:blipFill>
        <p:spPr>
          <a:xfrm>
            <a:off x="1074420" y="1988820"/>
            <a:ext cx="320040" cy="320040"/>
          </a:xfrm>
          <a:prstGeom prst="rect">
            <a:avLst/>
          </a:prstGeom>
        </p:spPr>
      </p:pic>
      <p:sp>
        <p:nvSpPr>
          <p:cNvPr id="9" name="Text 6"/>
          <p:cNvSpPr txBox="1"/>
          <p:nvPr/>
        </p:nvSpPr>
        <p:spPr>
          <a:xfrm>
            <a:off x="914400"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Ulik praksis fra sted til sted</a:t>
            </a:r>
            <a:endParaRPr lang="en-US" sz="1700" dirty="0"/>
          </a:p>
        </p:txBody>
      </p:sp>
      <p:sp>
        <p:nvSpPr>
          <p:cNvPr id="10" name="Text 7"/>
          <p:cNvSpPr txBox="1"/>
          <p:nvPr/>
        </p:nvSpPr>
        <p:spPr>
          <a:xfrm>
            <a:off x="914400" y="3154680"/>
            <a:ext cx="2905658" cy="128016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Samme behov løses på 350 ulike måter. Det koster tid, og kvaliteten varierer.</a:t>
            </a:r>
            <a:endParaRPr lang="en-US" sz="1350" dirty="0"/>
          </a:p>
        </p:txBody>
      </p:sp>
      <p:sp>
        <p:nvSpPr>
          <p:cNvPr id="11" name="Shape 8"/>
          <p:cNvSpPr/>
          <p:nvPr/>
        </p:nvSpPr>
        <p:spPr>
          <a:xfrm>
            <a:off x="4368698" y="1554480"/>
            <a:ext cx="3454298" cy="3108960"/>
          </a:xfrm>
          <a:prstGeom prst="roundRect">
            <a:avLst>
              <a:gd name="adj" fmla="val 3529"/>
            </a:avLst>
          </a:prstGeom>
          <a:solidFill>
            <a:srgbClr val="F4F7FA"/>
          </a:solidFill>
          <a:ln w="12700">
            <a:solidFill>
              <a:srgbClr val="F4F7FA"/>
            </a:solidFill>
            <a:prstDash val="solid"/>
          </a:ln>
        </p:spPr>
      </p:sp>
      <p:sp>
        <p:nvSpPr>
          <p:cNvPr id="12" name="Shape 9"/>
          <p:cNvSpPr/>
          <p:nvPr/>
        </p:nvSpPr>
        <p:spPr>
          <a:xfrm>
            <a:off x="4643018" y="1828800"/>
            <a:ext cx="640080" cy="640080"/>
          </a:xfrm>
          <a:prstGeom prst="ellipse">
            <a:avLst/>
          </a:prstGeom>
          <a:solidFill>
            <a:srgbClr val="14283C"/>
          </a:solidFill>
          <a:ln w="12700">
            <a:solidFill>
              <a:srgbClr val="14283C"/>
            </a:solidFill>
            <a:prstDash val="solid"/>
          </a:ln>
        </p:spPr>
      </p:sp>
      <p:pic>
        <p:nvPicPr>
          <p:cNvPr id="13" name="Image 1" descr="preencoded.png">    </p:cNvPr>
          <p:cNvPicPr>
            <a:picLocks noChangeAspect="1"/>
          </p:cNvPicPr>
          <p:nvPr/>
        </p:nvPicPr>
        <p:blipFill>
          <a:blip r:embed="rId2"/>
          <a:stretch>
            <a:fillRect/>
          </a:stretch>
        </p:blipFill>
        <p:spPr>
          <a:xfrm>
            <a:off x="4803038" y="1988820"/>
            <a:ext cx="320040" cy="320040"/>
          </a:xfrm>
          <a:prstGeom prst="rect">
            <a:avLst/>
          </a:prstGeom>
        </p:spPr>
      </p:pic>
      <p:sp>
        <p:nvSpPr>
          <p:cNvPr id="14" name="Text 10"/>
          <p:cNvSpPr txBox="1"/>
          <p:nvPr/>
        </p:nvSpPr>
        <p:spPr>
          <a:xfrm>
            <a:off x="4643018"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Løsninger blir i siloer</a:t>
            </a:r>
            <a:endParaRPr lang="en-US" sz="1700" dirty="0"/>
          </a:p>
        </p:txBody>
      </p:sp>
      <p:sp>
        <p:nvSpPr>
          <p:cNvPr id="15" name="Text 11"/>
          <p:cNvSpPr txBox="1"/>
          <p:nvPr/>
        </p:nvSpPr>
        <p:spPr>
          <a:xfrm>
            <a:off x="4643018" y="3154680"/>
            <a:ext cx="2905658" cy="128016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Gode grep i ett distrikt når sjelden ut til de andre. Læringen forsvinner med prosjektet.</a:t>
            </a:r>
            <a:endParaRPr lang="en-US" sz="1350" dirty="0"/>
          </a:p>
        </p:txBody>
      </p:sp>
      <p:sp>
        <p:nvSpPr>
          <p:cNvPr id="16" name="Shape 12"/>
          <p:cNvSpPr/>
          <p:nvPr/>
        </p:nvSpPr>
        <p:spPr>
          <a:xfrm>
            <a:off x="8097317" y="1554480"/>
            <a:ext cx="3454298" cy="3108960"/>
          </a:xfrm>
          <a:prstGeom prst="roundRect">
            <a:avLst>
              <a:gd name="adj" fmla="val 3529"/>
            </a:avLst>
          </a:prstGeom>
          <a:solidFill>
            <a:srgbClr val="F4F7FA"/>
          </a:solidFill>
          <a:ln w="12700">
            <a:solidFill>
              <a:srgbClr val="F4F7FA"/>
            </a:solidFill>
            <a:prstDash val="solid"/>
          </a:ln>
        </p:spPr>
      </p:sp>
      <p:sp>
        <p:nvSpPr>
          <p:cNvPr id="17" name="Shape 13"/>
          <p:cNvSpPr/>
          <p:nvPr/>
        </p:nvSpPr>
        <p:spPr>
          <a:xfrm>
            <a:off x="8371637" y="1828800"/>
            <a:ext cx="640080" cy="640080"/>
          </a:xfrm>
          <a:prstGeom prst="ellipse">
            <a:avLst/>
          </a:prstGeom>
          <a:solidFill>
            <a:srgbClr val="14283C"/>
          </a:solidFill>
          <a:ln w="12700">
            <a:solidFill>
              <a:srgbClr val="14283C"/>
            </a:solidFill>
            <a:prstDash val="solid"/>
          </a:ln>
        </p:spPr>
      </p:sp>
      <p:pic>
        <p:nvPicPr>
          <p:cNvPr id="18" name="Image 2" descr="preencoded.png">    </p:cNvPr>
          <p:cNvPicPr>
            <a:picLocks noChangeAspect="1"/>
          </p:cNvPicPr>
          <p:nvPr/>
        </p:nvPicPr>
        <p:blipFill>
          <a:blip r:embed="rId3"/>
          <a:stretch>
            <a:fillRect/>
          </a:stretch>
        </p:blipFill>
        <p:spPr>
          <a:xfrm>
            <a:off x="8531657" y="1988820"/>
            <a:ext cx="320040" cy="320040"/>
          </a:xfrm>
          <a:prstGeom prst="rect">
            <a:avLst/>
          </a:prstGeom>
        </p:spPr>
      </p:pic>
      <p:sp>
        <p:nvSpPr>
          <p:cNvPr id="19" name="Text 14"/>
          <p:cNvSpPr txBox="1"/>
          <p:nvPr/>
        </p:nvSpPr>
        <p:spPr>
          <a:xfrm>
            <a:off x="8371637"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Behov endrer seg raskere enn bygg</a:t>
            </a:r>
            <a:endParaRPr lang="en-US" sz="1700" dirty="0"/>
          </a:p>
        </p:txBody>
      </p:sp>
      <p:sp>
        <p:nvSpPr>
          <p:cNvPr id="20" name="Text 15"/>
          <p:cNvSpPr txBox="1"/>
          <p:nvPr/>
        </p:nvSpPr>
        <p:spPr>
          <a:xfrm>
            <a:off x="8371637" y="3154680"/>
            <a:ext cx="2905658" cy="128016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Nye arbeidsformer, sikkerhetskrav og teknologi krever at vi kan prøve ut ting – uten å bygge om alt.</a:t>
            </a:r>
            <a:endParaRPr lang="en-US" sz="1350" dirty="0"/>
          </a:p>
        </p:txBody>
      </p:sp>
      <p:sp>
        <p:nvSpPr>
          <p:cNvPr id="21" name="Text 16"/>
          <p:cNvSpPr txBox="1"/>
          <p:nvPr/>
        </p:nvSpPr>
        <p:spPr>
          <a:xfrm>
            <a:off x="640080" y="4983480"/>
            <a:ext cx="10911535" cy="457200"/>
          </a:xfrm>
          <a:prstGeom prst="rect">
            <a:avLst/>
          </a:prstGeom>
          <a:noFill/>
          <a:ln/>
        </p:spPr>
        <p:txBody>
          <a:bodyPr wrap="square" lIns="0" tIns="0" rIns="0" bIns="0" rtlCol="0" anchor="ctr"/>
          <a:lstStyle/>
          <a:p>
            <a:pPr indent="0" marL="0">
              <a:buNone/>
            </a:pPr>
            <a:r>
              <a:rPr lang="en-US" sz="1100" b="1" i="1" dirty="0">
                <a:solidFill>
                  <a:srgbClr val="3F6E93"/>
                </a:solidFill>
                <a:latin typeface="Calibri" pitchFamily="34" charset="0"/>
                <a:ea typeface="Calibri" pitchFamily="34" charset="-122"/>
                <a:cs typeface="Calibri" pitchFamily="34" charset="-120"/>
              </a:rPr>
              <a:t>Verifiser: </a:t>
            </a:r>
            <a:pPr indent="0" marL="0">
              <a:buNone/>
            </a:pPr>
            <a:r>
              <a:rPr lang="en-US" sz="1100" i="1" dirty="0">
                <a:solidFill>
                  <a:srgbClr val="66737F"/>
                </a:solidFill>
                <a:latin typeface="Calibri" pitchFamily="34" charset="0"/>
                <a:ea typeface="Calibri" pitchFamily="34" charset="-122"/>
                <a:cs typeface="Calibri" pitchFamily="34" charset="-120"/>
              </a:rPr>
              <a:t>bytt ut med utfordringene RF Studio faktisk er satt til å jobbe med, gjerne med ett konkret eksempel per punkt.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Hva er RF Studio?</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HVA</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6 / 18</a:t>
            </a:r>
            <a:endParaRPr lang="en-US" sz="900" dirty="0"/>
          </a:p>
        </p:txBody>
      </p:sp>
      <p:sp>
        <p:nvSpPr>
          <p:cNvPr id="6" name="Shape 4"/>
          <p:cNvSpPr/>
          <p:nvPr/>
        </p:nvSpPr>
        <p:spPr>
          <a:xfrm>
            <a:off x="640080" y="1371600"/>
            <a:ext cx="10911535" cy="1234440"/>
          </a:xfrm>
          <a:prstGeom prst="roundRect">
            <a:avLst>
              <a:gd name="adj" fmla="val 8889"/>
            </a:avLst>
          </a:prstGeom>
          <a:solidFill>
            <a:srgbClr val="14283C"/>
          </a:solidFill>
          <a:ln w="12700">
            <a:solidFill>
              <a:srgbClr val="14283C"/>
            </a:solidFill>
            <a:prstDash val="solid"/>
          </a:ln>
        </p:spPr>
      </p:sp>
      <p:sp>
        <p:nvSpPr>
          <p:cNvPr id="7" name="Text 5"/>
          <p:cNvSpPr txBox="1"/>
          <p:nvPr/>
        </p:nvSpPr>
        <p:spPr>
          <a:xfrm>
            <a:off x="1005840" y="1463040"/>
            <a:ext cx="10180015" cy="105156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RF Studio er PFT Eiendoms utviklingsmiljø for politiets lokaler: der ideer og behov testes i liten skala før de blir felles løsninger for hele porteføljen.</a:t>
            </a:r>
            <a:endParaRPr lang="en-US" sz="2000" dirty="0"/>
          </a:p>
        </p:txBody>
      </p:sp>
      <p:sp>
        <p:nvSpPr>
          <p:cNvPr id="8" name="Text 6"/>
          <p:cNvSpPr txBox="1"/>
          <p:nvPr/>
        </p:nvSpPr>
        <p:spPr>
          <a:xfrm>
            <a:off x="640080" y="2697480"/>
            <a:ext cx="10911535" cy="365760"/>
          </a:xfrm>
          <a:prstGeom prst="rect">
            <a:avLst/>
          </a:prstGeom>
          <a:noFill/>
          <a:ln/>
        </p:spPr>
        <p:txBody>
          <a:bodyPr wrap="square" lIns="0" tIns="0" rIns="0" bIns="0" rtlCol="0" anchor="ctr"/>
          <a:lstStyle/>
          <a:p>
            <a:pPr indent="0" marL="0">
              <a:buNone/>
            </a:pPr>
            <a:r>
              <a:rPr lang="en-US" sz="1200" dirty="0">
                <a:solidFill>
                  <a:srgbClr val="66737F"/>
                </a:solidFill>
                <a:latin typeface="Calibri" pitchFamily="34" charset="0"/>
                <a:ea typeface="Calibri" pitchFamily="34" charset="-122"/>
                <a:cs typeface="Calibri" pitchFamily="34" charset="-120"/>
              </a:rPr>
              <a:t>RF står for </a:t>
            </a:r>
            <a:pPr indent="0" marL="0">
              <a:buNone/>
            </a:pPr>
            <a:r>
              <a:rPr lang="en-US" sz="1200" i="1" dirty="0">
                <a:solidFill>
                  <a:srgbClr val="3F6E93"/>
                </a:solidFill>
                <a:latin typeface="Calibri" pitchFamily="34" charset="0"/>
                <a:ea typeface="Calibri" pitchFamily="34" charset="-122"/>
                <a:cs typeface="Calibri" pitchFamily="34" charset="-120"/>
              </a:rPr>
              <a:t>[fyll inn]</a:t>
            </a:r>
            <a:pPr indent="0" marL="0">
              <a:buNone/>
            </a:pPr>
            <a:r>
              <a:rPr lang="en-US" sz="1200" dirty="0">
                <a:solidFill>
                  <a:srgbClr val="66737F"/>
                </a:solidFill>
                <a:latin typeface="Calibri" pitchFamily="34" charset="0"/>
                <a:ea typeface="Calibri" pitchFamily="34" charset="-122"/>
                <a:cs typeface="Calibri" pitchFamily="34" charset="-120"/>
              </a:rPr>
              <a:t>   ·   Etablert </a:t>
            </a:r>
            <a:pPr indent="0" marL="0">
              <a:buNone/>
            </a:pPr>
            <a:r>
              <a:rPr lang="en-US" sz="1200" i="1" dirty="0">
                <a:solidFill>
                  <a:srgbClr val="3F6E93"/>
                </a:solidFill>
                <a:latin typeface="Calibri" pitchFamily="34" charset="0"/>
                <a:ea typeface="Calibri" pitchFamily="34" charset="-122"/>
                <a:cs typeface="Calibri" pitchFamily="34" charset="-120"/>
              </a:rPr>
              <a:t>[år]</a:t>
            </a:r>
            <a:pPr indent="0" marL="0">
              <a:buNone/>
            </a:pPr>
            <a:r>
              <a:rPr lang="en-US" sz="1200" dirty="0">
                <a:solidFill>
                  <a:srgbClr val="66737F"/>
                </a:solidFill>
                <a:latin typeface="Calibri" pitchFamily="34" charset="0"/>
                <a:ea typeface="Calibri" pitchFamily="34" charset="-122"/>
                <a:cs typeface="Calibri" pitchFamily="34" charset="-120"/>
              </a:rPr>
              <a:t>   ·   Del av </a:t>
            </a:r>
            <a:pPr indent="0" marL="0">
              <a:buNone/>
            </a:pPr>
            <a:r>
              <a:rPr lang="en-US" sz="1200" i="1" dirty="0">
                <a:solidFill>
                  <a:srgbClr val="3F6E93"/>
                </a:solidFill>
                <a:latin typeface="Calibri" pitchFamily="34" charset="0"/>
                <a:ea typeface="Calibri" pitchFamily="34" charset="-122"/>
                <a:cs typeface="Calibri" pitchFamily="34" charset="-120"/>
              </a:rPr>
              <a:t>[seksjon/avdeling]</a:t>
            </a:r>
            <a:endParaRPr lang="en-US" sz="1200" dirty="0"/>
          </a:p>
        </p:txBody>
      </p:sp>
      <p:sp>
        <p:nvSpPr>
          <p:cNvPr id="9" name="Shape 7"/>
          <p:cNvSpPr/>
          <p:nvPr/>
        </p:nvSpPr>
        <p:spPr>
          <a:xfrm>
            <a:off x="640080" y="3200400"/>
            <a:ext cx="3454298" cy="2606040"/>
          </a:xfrm>
          <a:prstGeom prst="roundRect">
            <a:avLst>
              <a:gd name="adj" fmla="val 4211"/>
            </a:avLst>
          </a:prstGeom>
          <a:solidFill>
            <a:srgbClr val="F4F7FA"/>
          </a:solidFill>
          <a:ln w="12700">
            <a:solidFill>
              <a:srgbClr val="F4F7FA"/>
            </a:solidFill>
            <a:prstDash val="solid"/>
          </a:ln>
        </p:spPr>
      </p:sp>
      <p:sp>
        <p:nvSpPr>
          <p:cNvPr id="10" name="Shape 8"/>
          <p:cNvSpPr/>
          <p:nvPr/>
        </p:nvSpPr>
        <p:spPr>
          <a:xfrm>
            <a:off x="914400" y="3474720"/>
            <a:ext cx="640080" cy="640080"/>
          </a:xfrm>
          <a:prstGeom prst="ellipse">
            <a:avLst/>
          </a:prstGeom>
          <a:solidFill>
            <a:srgbClr val="14283C"/>
          </a:solidFill>
          <a:ln w="12700">
            <a:solidFill>
              <a:srgbClr val="14283C"/>
            </a:solidFill>
            <a:prstDash val="solid"/>
          </a:ln>
        </p:spPr>
      </p:sp>
      <p:pic>
        <p:nvPicPr>
          <p:cNvPr id="11" name="Image 0" descr="preencoded.png">    </p:cNvPr>
          <p:cNvPicPr>
            <a:picLocks noChangeAspect="1"/>
          </p:cNvPicPr>
          <p:nvPr/>
        </p:nvPicPr>
        <p:blipFill>
          <a:blip r:embed="rId1"/>
          <a:stretch>
            <a:fillRect/>
          </a:stretch>
        </p:blipFill>
        <p:spPr>
          <a:xfrm>
            <a:off x="1074420" y="3634740"/>
            <a:ext cx="320040" cy="320040"/>
          </a:xfrm>
          <a:prstGeom prst="rect">
            <a:avLst/>
          </a:prstGeom>
        </p:spPr>
      </p:pic>
      <p:sp>
        <p:nvSpPr>
          <p:cNvPr id="12" name="Text 9"/>
          <p:cNvSpPr txBox="1"/>
          <p:nvPr/>
        </p:nvSpPr>
        <p:spPr>
          <a:xfrm>
            <a:off x="914400" y="4251960"/>
            <a:ext cx="2905658" cy="502920"/>
          </a:xfrm>
          <a:prstGeom prst="rect">
            <a:avLst/>
          </a:prstGeom>
          <a:noFill/>
          <a:ln/>
        </p:spPr>
        <p:txBody>
          <a:bodyPr wrap="square" lIns="0" tIns="0" rIns="0" bIns="0" rtlCol="0" anchor="t"/>
          <a:lstStyle/>
          <a:p>
            <a:pPr indent="0" marL="0">
              <a:buNone/>
            </a:pPr>
            <a:r>
              <a:rPr lang="en-US" sz="1600" b="1" dirty="0">
                <a:solidFill>
                  <a:srgbClr val="14283C"/>
                </a:solidFill>
                <a:latin typeface="Cambria" pitchFamily="34" charset="0"/>
                <a:ea typeface="Cambria" pitchFamily="34" charset="-122"/>
                <a:cs typeface="Cambria" pitchFamily="34" charset="-120"/>
              </a:rPr>
              <a:t>Utforske</a:t>
            </a:r>
            <a:endParaRPr lang="en-US" sz="1600" dirty="0"/>
          </a:p>
        </p:txBody>
      </p:sp>
      <p:sp>
        <p:nvSpPr>
          <p:cNvPr id="13" name="Text 10"/>
          <p:cNvSpPr txBox="1"/>
          <p:nvPr/>
        </p:nvSpPr>
        <p:spPr>
          <a:xfrm>
            <a:off x="914400" y="4800600"/>
            <a:ext cx="2905658" cy="7772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Samle behov og ideer fra eiendomsansvarlige, brukere og drift. Forstå problemet først.</a:t>
            </a:r>
            <a:endParaRPr lang="en-US" sz="1250" dirty="0"/>
          </a:p>
        </p:txBody>
      </p:sp>
      <p:sp>
        <p:nvSpPr>
          <p:cNvPr id="14" name="Shape 11"/>
          <p:cNvSpPr/>
          <p:nvPr/>
        </p:nvSpPr>
        <p:spPr>
          <a:xfrm>
            <a:off x="4368698" y="3200400"/>
            <a:ext cx="3454298" cy="2606040"/>
          </a:xfrm>
          <a:prstGeom prst="roundRect">
            <a:avLst>
              <a:gd name="adj" fmla="val 4211"/>
            </a:avLst>
          </a:prstGeom>
          <a:solidFill>
            <a:srgbClr val="F4F7FA"/>
          </a:solidFill>
          <a:ln w="12700">
            <a:solidFill>
              <a:srgbClr val="F4F7FA"/>
            </a:solidFill>
            <a:prstDash val="solid"/>
          </a:ln>
        </p:spPr>
      </p:sp>
      <p:sp>
        <p:nvSpPr>
          <p:cNvPr id="15" name="Shape 12"/>
          <p:cNvSpPr/>
          <p:nvPr/>
        </p:nvSpPr>
        <p:spPr>
          <a:xfrm>
            <a:off x="4643018" y="3474720"/>
            <a:ext cx="640080" cy="640080"/>
          </a:xfrm>
          <a:prstGeom prst="ellipse">
            <a:avLst/>
          </a:prstGeom>
          <a:solidFill>
            <a:srgbClr val="14283C"/>
          </a:solidFill>
          <a:ln w="12700">
            <a:solidFill>
              <a:srgbClr val="14283C"/>
            </a:solidFill>
            <a:prstDash val="solid"/>
          </a:ln>
        </p:spPr>
      </p:sp>
      <p:pic>
        <p:nvPicPr>
          <p:cNvPr id="16" name="Image 1" descr="preencoded.png">    </p:cNvPr>
          <p:cNvPicPr>
            <a:picLocks noChangeAspect="1"/>
          </p:cNvPicPr>
          <p:nvPr/>
        </p:nvPicPr>
        <p:blipFill>
          <a:blip r:embed="rId2"/>
          <a:stretch>
            <a:fillRect/>
          </a:stretch>
        </p:blipFill>
        <p:spPr>
          <a:xfrm>
            <a:off x="4803038" y="3634740"/>
            <a:ext cx="320040" cy="320040"/>
          </a:xfrm>
          <a:prstGeom prst="rect">
            <a:avLst/>
          </a:prstGeom>
        </p:spPr>
      </p:pic>
      <p:sp>
        <p:nvSpPr>
          <p:cNvPr id="17" name="Text 13"/>
          <p:cNvSpPr txBox="1"/>
          <p:nvPr/>
        </p:nvSpPr>
        <p:spPr>
          <a:xfrm>
            <a:off x="4643018" y="4251960"/>
            <a:ext cx="2905658" cy="502920"/>
          </a:xfrm>
          <a:prstGeom prst="rect">
            <a:avLst/>
          </a:prstGeom>
          <a:noFill/>
          <a:ln/>
        </p:spPr>
        <p:txBody>
          <a:bodyPr wrap="square" lIns="0" tIns="0" rIns="0" bIns="0" rtlCol="0" anchor="t"/>
          <a:lstStyle/>
          <a:p>
            <a:pPr indent="0" marL="0">
              <a:buNone/>
            </a:pPr>
            <a:r>
              <a:rPr lang="en-US" sz="1600" b="1" dirty="0">
                <a:solidFill>
                  <a:srgbClr val="14283C"/>
                </a:solidFill>
                <a:latin typeface="Cambria" pitchFamily="34" charset="0"/>
                <a:ea typeface="Cambria" pitchFamily="34" charset="-122"/>
                <a:cs typeface="Cambria" pitchFamily="34" charset="-120"/>
              </a:rPr>
              <a:t>Utvikle</a:t>
            </a:r>
            <a:endParaRPr lang="en-US" sz="1600" dirty="0"/>
          </a:p>
        </p:txBody>
      </p:sp>
      <p:sp>
        <p:nvSpPr>
          <p:cNvPr id="18" name="Text 14"/>
          <p:cNvSpPr txBox="1"/>
          <p:nvPr/>
        </p:nvSpPr>
        <p:spPr>
          <a:xfrm>
            <a:off x="4643018" y="4800600"/>
            <a:ext cx="2905658" cy="7772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Lage prototyper og pilotløsninger som kan prøves i ekte lokaler – raskt og rimelig.</a:t>
            </a:r>
            <a:endParaRPr lang="en-US" sz="1250" dirty="0"/>
          </a:p>
        </p:txBody>
      </p:sp>
      <p:sp>
        <p:nvSpPr>
          <p:cNvPr id="19" name="Shape 15"/>
          <p:cNvSpPr/>
          <p:nvPr/>
        </p:nvSpPr>
        <p:spPr>
          <a:xfrm>
            <a:off x="8097317" y="3200400"/>
            <a:ext cx="3454298" cy="2606040"/>
          </a:xfrm>
          <a:prstGeom prst="roundRect">
            <a:avLst>
              <a:gd name="adj" fmla="val 4211"/>
            </a:avLst>
          </a:prstGeom>
          <a:solidFill>
            <a:srgbClr val="F4F7FA"/>
          </a:solidFill>
          <a:ln w="12700">
            <a:solidFill>
              <a:srgbClr val="F4F7FA"/>
            </a:solidFill>
            <a:prstDash val="solid"/>
          </a:ln>
        </p:spPr>
      </p:sp>
      <p:sp>
        <p:nvSpPr>
          <p:cNvPr id="20" name="Shape 16"/>
          <p:cNvSpPr/>
          <p:nvPr/>
        </p:nvSpPr>
        <p:spPr>
          <a:xfrm>
            <a:off x="8371637" y="3474720"/>
            <a:ext cx="640080" cy="640080"/>
          </a:xfrm>
          <a:prstGeom prst="ellipse">
            <a:avLst/>
          </a:prstGeom>
          <a:solidFill>
            <a:srgbClr val="14283C"/>
          </a:solidFill>
          <a:ln w="12700">
            <a:solidFill>
              <a:srgbClr val="14283C"/>
            </a:solidFill>
            <a:prstDash val="solid"/>
          </a:ln>
        </p:spPr>
      </p:sp>
      <p:pic>
        <p:nvPicPr>
          <p:cNvPr id="21" name="Image 2" descr="preencoded.png">    </p:cNvPr>
          <p:cNvPicPr>
            <a:picLocks noChangeAspect="1"/>
          </p:cNvPicPr>
          <p:nvPr/>
        </p:nvPicPr>
        <p:blipFill>
          <a:blip r:embed="rId3"/>
          <a:stretch>
            <a:fillRect/>
          </a:stretch>
        </p:blipFill>
        <p:spPr>
          <a:xfrm>
            <a:off x="8531657" y="3634740"/>
            <a:ext cx="320040" cy="320040"/>
          </a:xfrm>
          <a:prstGeom prst="rect">
            <a:avLst/>
          </a:prstGeom>
        </p:spPr>
      </p:pic>
      <p:sp>
        <p:nvSpPr>
          <p:cNvPr id="22" name="Text 17"/>
          <p:cNvSpPr txBox="1"/>
          <p:nvPr/>
        </p:nvSpPr>
        <p:spPr>
          <a:xfrm>
            <a:off x="8371637" y="4251960"/>
            <a:ext cx="2905658" cy="502920"/>
          </a:xfrm>
          <a:prstGeom prst="rect">
            <a:avLst/>
          </a:prstGeom>
          <a:noFill/>
          <a:ln/>
        </p:spPr>
        <p:txBody>
          <a:bodyPr wrap="square" lIns="0" tIns="0" rIns="0" bIns="0" rtlCol="0" anchor="t"/>
          <a:lstStyle/>
          <a:p>
            <a:pPr indent="0" marL="0">
              <a:buNone/>
            </a:pPr>
            <a:r>
              <a:rPr lang="en-US" sz="1600" b="1" dirty="0">
                <a:solidFill>
                  <a:srgbClr val="14283C"/>
                </a:solidFill>
                <a:latin typeface="Cambria" pitchFamily="34" charset="0"/>
                <a:ea typeface="Cambria" pitchFamily="34" charset="-122"/>
                <a:cs typeface="Cambria" pitchFamily="34" charset="-120"/>
              </a:rPr>
              <a:t>Dele</a:t>
            </a:r>
            <a:endParaRPr lang="en-US" sz="1600" dirty="0"/>
          </a:p>
        </p:txBody>
      </p:sp>
      <p:sp>
        <p:nvSpPr>
          <p:cNvPr id="23" name="Text 18"/>
          <p:cNvSpPr txBox="1"/>
          <p:nvPr/>
        </p:nvSpPr>
        <p:spPr>
          <a:xfrm>
            <a:off x="8371637" y="4800600"/>
            <a:ext cx="2905658" cy="7772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Gjøre det som virker til felles standarder, veiledere og verktøy for alle 350 lokasjoner.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Hvem er vi – og hvor passer du inn?</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HVA</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7 / 18</a:t>
            </a:r>
            <a:endParaRPr lang="en-US" sz="900" dirty="0"/>
          </a:p>
        </p:txBody>
      </p:sp>
      <p:sp>
        <p:nvSpPr>
          <p:cNvPr id="6" name="Shape 4"/>
          <p:cNvSpPr/>
          <p:nvPr/>
        </p:nvSpPr>
        <p:spPr>
          <a:xfrm>
            <a:off x="1371600" y="2057400"/>
            <a:ext cx="1828800" cy="1508760"/>
          </a:xfrm>
          <a:prstGeom prst="line">
            <a:avLst/>
          </a:prstGeom>
          <a:noFill/>
          <a:ln w="19050">
            <a:solidFill>
              <a:srgbClr val="D3DCE4"/>
            </a:solidFill>
            <a:prstDash val="solid"/>
          </a:ln>
        </p:spPr>
      </p:sp>
      <p:sp>
        <p:nvSpPr>
          <p:cNvPr id="7" name="Shape 5"/>
          <p:cNvSpPr/>
          <p:nvPr/>
        </p:nvSpPr>
        <p:spPr>
          <a:xfrm flipH="1">
            <a:off x="3200400" y="2057400"/>
            <a:ext cx="1828800" cy="1508760"/>
          </a:xfrm>
          <a:prstGeom prst="line">
            <a:avLst/>
          </a:prstGeom>
          <a:noFill/>
          <a:ln w="19050">
            <a:solidFill>
              <a:srgbClr val="D3DCE4"/>
            </a:solidFill>
            <a:prstDash val="solid"/>
          </a:ln>
        </p:spPr>
      </p:sp>
      <p:sp>
        <p:nvSpPr>
          <p:cNvPr id="8" name="Shape 6"/>
          <p:cNvSpPr/>
          <p:nvPr/>
        </p:nvSpPr>
        <p:spPr>
          <a:xfrm flipH="1">
            <a:off x="1371600" y="3566160"/>
            <a:ext cx="1828800" cy="1325880"/>
          </a:xfrm>
          <a:prstGeom prst="line">
            <a:avLst/>
          </a:prstGeom>
          <a:noFill/>
          <a:ln w="19050">
            <a:solidFill>
              <a:srgbClr val="D3DCE4"/>
            </a:solidFill>
            <a:prstDash val="solid"/>
          </a:ln>
        </p:spPr>
      </p:sp>
      <p:sp>
        <p:nvSpPr>
          <p:cNvPr id="9" name="Shape 7"/>
          <p:cNvSpPr/>
          <p:nvPr/>
        </p:nvSpPr>
        <p:spPr>
          <a:xfrm>
            <a:off x="3200400" y="3566160"/>
            <a:ext cx="1828800" cy="1325880"/>
          </a:xfrm>
          <a:prstGeom prst="line">
            <a:avLst/>
          </a:prstGeom>
          <a:noFill/>
          <a:ln w="19050">
            <a:solidFill>
              <a:srgbClr val="D3DCE4"/>
            </a:solidFill>
            <a:prstDash val="solid"/>
          </a:ln>
        </p:spPr>
      </p:sp>
      <p:sp>
        <p:nvSpPr>
          <p:cNvPr id="10" name="Shape 8"/>
          <p:cNvSpPr/>
          <p:nvPr/>
        </p:nvSpPr>
        <p:spPr>
          <a:xfrm>
            <a:off x="2286000" y="2651760"/>
            <a:ext cx="1828800" cy="1828800"/>
          </a:xfrm>
          <a:prstGeom prst="ellipse">
            <a:avLst/>
          </a:prstGeom>
          <a:solidFill>
            <a:srgbClr val="14283C"/>
          </a:solidFill>
          <a:ln w="12700">
            <a:solidFill>
              <a:srgbClr val="14283C"/>
            </a:solidFill>
            <a:prstDash val="solid"/>
          </a:ln>
        </p:spPr>
      </p:sp>
      <p:sp>
        <p:nvSpPr>
          <p:cNvPr id="11" name="Text 9"/>
          <p:cNvSpPr txBox="1"/>
          <p:nvPr/>
        </p:nvSpPr>
        <p:spPr>
          <a:xfrm>
            <a:off x="2286000" y="2651760"/>
            <a:ext cx="1828800" cy="1828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RF Studio</a:t>
            </a:r>
            <a:endParaRPr lang="en-US" sz="1800" dirty="0"/>
          </a:p>
        </p:txBody>
      </p:sp>
      <p:sp>
        <p:nvSpPr>
          <p:cNvPr id="12" name="Shape 10"/>
          <p:cNvSpPr/>
          <p:nvPr/>
        </p:nvSpPr>
        <p:spPr>
          <a:xfrm>
            <a:off x="914400" y="1600200"/>
            <a:ext cx="914400" cy="914400"/>
          </a:xfrm>
          <a:prstGeom prst="ellipse">
            <a:avLst/>
          </a:prstGeom>
          <a:solidFill>
            <a:srgbClr val="EAF0F5"/>
          </a:solidFill>
          <a:ln w="12700">
            <a:solidFill>
              <a:srgbClr val="EAF0F5"/>
            </a:solidFill>
            <a:prstDash val="solid"/>
          </a:ln>
        </p:spPr>
      </p:sp>
      <p:pic>
        <p:nvPicPr>
          <p:cNvPr id="13" name="Image 0" descr="preencoded.png">    </p:cNvPr>
          <p:cNvPicPr>
            <a:picLocks noChangeAspect="1"/>
          </p:cNvPicPr>
          <p:nvPr/>
        </p:nvPicPr>
        <p:blipFill>
          <a:blip r:embed="rId1"/>
          <a:stretch>
            <a:fillRect/>
          </a:stretch>
        </p:blipFill>
        <p:spPr>
          <a:xfrm>
            <a:off x="1143000" y="1828800"/>
            <a:ext cx="457200" cy="457200"/>
          </a:xfrm>
          <a:prstGeom prst="rect">
            <a:avLst/>
          </a:prstGeom>
        </p:spPr>
      </p:pic>
      <p:sp>
        <p:nvSpPr>
          <p:cNvPr id="14" name="Text 11"/>
          <p:cNvSpPr txBox="1"/>
          <p:nvPr/>
        </p:nvSpPr>
        <p:spPr>
          <a:xfrm>
            <a:off x="274320" y="2560320"/>
            <a:ext cx="2194560" cy="457200"/>
          </a:xfrm>
          <a:prstGeom prst="rect">
            <a:avLst/>
          </a:prstGeom>
          <a:noFill/>
          <a:ln/>
        </p:spPr>
        <p:txBody>
          <a:bodyPr wrap="square" lIns="0" tIns="0" rIns="0" bIns="0" rtlCol="0" anchor="t"/>
          <a:lstStyle/>
          <a:p>
            <a:pPr algn="ctr" indent="0" marL="0">
              <a:buNone/>
            </a:pPr>
            <a:r>
              <a:rPr lang="en-US" sz="1200" b="1" dirty="0">
                <a:solidFill>
                  <a:srgbClr val="14283C"/>
                </a:solidFill>
                <a:latin typeface="Calibri" pitchFamily="34" charset="0"/>
                <a:ea typeface="Calibri" pitchFamily="34" charset="-122"/>
                <a:cs typeface="Calibri" pitchFamily="34" charset="-120"/>
              </a:rPr>
              <a:t>Eiendomsansvarlige</a:t>
            </a:r>
            <a:endParaRPr lang="en-US" sz="1200" dirty="0"/>
          </a:p>
        </p:txBody>
      </p:sp>
      <p:sp>
        <p:nvSpPr>
          <p:cNvPr id="15" name="Shape 12"/>
          <p:cNvSpPr/>
          <p:nvPr/>
        </p:nvSpPr>
        <p:spPr>
          <a:xfrm>
            <a:off x="4572000" y="1600200"/>
            <a:ext cx="914400" cy="914400"/>
          </a:xfrm>
          <a:prstGeom prst="ellipse">
            <a:avLst/>
          </a:prstGeom>
          <a:solidFill>
            <a:srgbClr val="EAF0F5"/>
          </a:solidFill>
          <a:ln w="12700">
            <a:solidFill>
              <a:srgbClr val="EAF0F5"/>
            </a:solidFill>
            <a:prstDash val="solid"/>
          </a:ln>
        </p:spPr>
      </p:sp>
      <p:pic>
        <p:nvPicPr>
          <p:cNvPr id="16" name="Image 1" descr="preencoded.png">    </p:cNvPr>
          <p:cNvPicPr>
            <a:picLocks noChangeAspect="1"/>
          </p:cNvPicPr>
          <p:nvPr/>
        </p:nvPicPr>
        <p:blipFill>
          <a:blip r:embed="rId2"/>
          <a:stretch>
            <a:fillRect/>
          </a:stretch>
        </p:blipFill>
        <p:spPr>
          <a:xfrm>
            <a:off x="4800600" y="1828800"/>
            <a:ext cx="457200" cy="457200"/>
          </a:xfrm>
          <a:prstGeom prst="rect">
            <a:avLst/>
          </a:prstGeom>
        </p:spPr>
      </p:pic>
      <p:sp>
        <p:nvSpPr>
          <p:cNvPr id="17" name="Text 13"/>
          <p:cNvSpPr txBox="1"/>
          <p:nvPr/>
        </p:nvSpPr>
        <p:spPr>
          <a:xfrm>
            <a:off x="3931920" y="2560320"/>
            <a:ext cx="2194560" cy="457200"/>
          </a:xfrm>
          <a:prstGeom prst="rect">
            <a:avLst/>
          </a:prstGeom>
          <a:noFill/>
          <a:ln/>
        </p:spPr>
        <p:txBody>
          <a:bodyPr wrap="square" lIns="0" tIns="0" rIns="0" bIns="0" rtlCol="0" anchor="t"/>
          <a:lstStyle/>
          <a:p>
            <a:pPr algn="ctr" indent="0" marL="0">
              <a:buNone/>
            </a:pPr>
            <a:r>
              <a:rPr lang="en-US" sz="1200" b="1" dirty="0">
                <a:solidFill>
                  <a:srgbClr val="14283C"/>
                </a:solidFill>
                <a:latin typeface="Calibri" pitchFamily="34" charset="0"/>
                <a:ea typeface="Calibri" pitchFamily="34" charset="-122"/>
                <a:cs typeface="Calibri" pitchFamily="34" charset="-120"/>
              </a:rPr>
              <a:t>PFT Eiendom-ledelse</a:t>
            </a:r>
            <a:endParaRPr lang="en-US" sz="1200" dirty="0"/>
          </a:p>
        </p:txBody>
      </p:sp>
      <p:sp>
        <p:nvSpPr>
          <p:cNvPr id="18" name="Shape 14"/>
          <p:cNvSpPr/>
          <p:nvPr/>
        </p:nvSpPr>
        <p:spPr>
          <a:xfrm>
            <a:off x="914400" y="4434840"/>
            <a:ext cx="914400" cy="914400"/>
          </a:xfrm>
          <a:prstGeom prst="ellipse">
            <a:avLst/>
          </a:prstGeom>
          <a:solidFill>
            <a:srgbClr val="EAF0F5"/>
          </a:solidFill>
          <a:ln w="12700">
            <a:solidFill>
              <a:srgbClr val="EAF0F5"/>
            </a:solidFill>
            <a:prstDash val="solid"/>
          </a:ln>
        </p:spPr>
      </p:sp>
      <p:pic>
        <p:nvPicPr>
          <p:cNvPr id="19" name="Image 2" descr="preencoded.png">    </p:cNvPr>
          <p:cNvPicPr>
            <a:picLocks noChangeAspect="1"/>
          </p:cNvPicPr>
          <p:nvPr/>
        </p:nvPicPr>
        <p:blipFill>
          <a:blip r:embed="rId3"/>
          <a:stretch>
            <a:fillRect/>
          </a:stretch>
        </p:blipFill>
        <p:spPr>
          <a:xfrm>
            <a:off x="1143000" y="4663440"/>
            <a:ext cx="457200" cy="457200"/>
          </a:xfrm>
          <a:prstGeom prst="rect">
            <a:avLst/>
          </a:prstGeom>
        </p:spPr>
      </p:pic>
      <p:sp>
        <p:nvSpPr>
          <p:cNvPr id="20" name="Text 15"/>
          <p:cNvSpPr txBox="1"/>
          <p:nvPr/>
        </p:nvSpPr>
        <p:spPr>
          <a:xfrm>
            <a:off x="274320" y="5394960"/>
            <a:ext cx="2194560" cy="457200"/>
          </a:xfrm>
          <a:prstGeom prst="rect">
            <a:avLst/>
          </a:prstGeom>
          <a:noFill/>
          <a:ln/>
        </p:spPr>
        <p:txBody>
          <a:bodyPr wrap="square" lIns="0" tIns="0" rIns="0" bIns="0" rtlCol="0" anchor="t"/>
          <a:lstStyle/>
          <a:p>
            <a:pPr algn="ctr" indent="0" marL="0">
              <a:buNone/>
            </a:pPr>
            <a:r>
              <a:rPr lang="en-US" sz="1200" b="1" dirty="0">
                <a:solidFill>
                  <a:srgbClr val="14283C"/>
                </a:solidFill>
                <a:latin typeface="Calibri" pitchFamily="34" charset="0"/>
                <a:ea typeface="Calibri" pitchFamily="34" charset="-122"/>
                <a:cs typeface="Calibri" pitchFamily="34" charset="-120"/>
              </a:rPr>
              <a:t>Leverandører og rådgivere</a:t>
            </a:r>
            <a:endParaRPr lang="en-US" sz="1200" dirty="0"/>
          </a:p>
        </p:txBody>
      </p:sp>
      <p:sp>
        <p:nvSpPr>
          <p:cNvPr id="21" name="Shape 16"/>
          <p:cNvSpPr/>
          <p:nvPr/>
        </p:nvSpPr>
        <p:spPr>
          <a:xfrm>
            <a:off x="4572000" y="4434840"/>
            <a:ext cx="914400" cy="914400"/>
          </a:xfrm>
          <a:prstGeom prst="ellipse">
            <a:avLst/>
          </a:prstGeom>
          <a:solidFill>
            <a:srgbClr val="EAF0F5"/>
          </a:solidFill>
          <a:ln w="12700">
            <a:solidFill>
              <a:srgbClr val="EAF0F5"/>
            </a:solidFill>
            <a:prstDash val="solid"/>
          </a:ln>
        </p:spPr>
      </p:sp>
      <p:pic>
        <p:nvPicPr>
          <p:cNvPr id="22" name="Image 3" descr="preencoded.png">    </p:cNvPr>
          <p:cNvPicPr>
            <a:picLocks noChangeAspect="1"/>
          </p:cNvPicPr>
          <p:nvPr/>
        </p:nvPicPr>
        <p:blipFill>
          <a:blip r:embed="rId4"/>
          <a:stretch>
            <a:fillRect/>
          </a:stretch>
        </p:blipFill>
        <p:spPr>
          <a:xfrm>
            <a:off x="4800600" y="4663440"/>
            <a:ext cx="457200" cy="457200"/>
          </a:xfrm>
          <a:prstGeom prst="rect">
            <a:avLst/>
          </a:prstGeom>
        </p:spPr>
      </p:pic>
      <p:sp>
        <p:nvSpPr>
          <p:cNvPr id="23" name="Text 17"/>
          <p:cNvSpPr txBox="1"/>
          <p:nvPr/>
        </p:nvSpPr>
        <p:spPr>
          <a:xfrm>
            <a:off x="3931920" y="5394960"/>
            <a:ext cx="2194560" cy="457200"/>
          </a:xfrm>
          <a:prstGeom prst="rect">
            <a:avLst/>
          </a:prstGeom>
          <a:noFill/>
          <a:ln/>
        </p:spPr>
        <p:txBody>
          <a:bodyPr wrap="square" lIns="0" tIns="0" rIns="0" bIns="0" rtlCol="0" anchor="t"/>
          <a:lstStyle/>
          <a:p>
            <a:pPr algn="ctr" indent="0" marL="0">
              <a:buNone/>
            </a:pPr>
            <a:r>
              <a:rPr lang="en-US" sz="1200" b="1" dirty="0">
                <a:solidFill>
                  <a:srgbClr val="14283C"/>
                </a:solidFill>
                <a:latin typeface="Calibri" pitchFamily="34" charset="0"/>
                <a:ea typeface="Calibri" pitchFamily="34" charset="-122"/>
                <a:cs typeface="Calibri" pitchFamily="34" charset="-120"/>
              </a:rPr>
              <a:t>Politidistrikt og særorgan</a:t>
            </a:r>
            <a:endParaRPr lang="en-US" sz="1200" dirty="0"/>
          </a:p>
        </p:txBody>
      </p:sp>
      <p:sp>
        <p:nvSpPr>
          <p:cNvPr id="24" name="Shape 18"/>
          <p:cNvSpPr/>
          <p:nvPr/>
        </p:nvSpPr>
        <p:spPr>
          <a:xfrm>
            <a:off x="7589520" y="1417320"/>
            <a:ext cx="3962095" cy="4297680"/>
          </a:xfrm>
          <a:prstGeom prst="roundRect">
            <a:avLst>
              <a:gd name="adj" fmla="val 2769"/>
            </a:avLst>
          </a:prstGeom>
          <a:solidFill>
            <a:srgbClr val="F4F7FA"/>
          </a:solidFill>
          <a:ln w="12700">
            <a:solidFill>
              <a:srgbClr val="F4F7FA"/>
            </a:solidFill>
            <a:prstDash val="solid"/>
          </a:ln>
        </p:spPr>
      </p:sp>
      <p:sp>
        <p:nvSpPr>
          <p:cNvPr id="25" name="Text 19"/>
          <p:cNvSpPr txBox="1"/>
          <p:nvPr/>
        </p:nvSpPr>
        <p:spPr>
          <a:xfrm>
            <a:off x="7909560" y="1645920"/>
            <a:ext cx="2743200" cy="274320"/>
          </a:xfrm>
          <a:prstGeom prst="rect">
            <a:avLst/>
          </a:prstGeom>
          <a:noFill/>
          <a:ln/>
        </p:spPr>
        <p:txBody>
          <a:bodyPr wrap="square" lIns="0" tIns="0" rIns="0" bIns="0" rtlCol="0" anchor="ctr"/>
          <a:lstStyle/>
          <a:p>
            <a:pPr indent="0" marL="0">
              <a:buNone/>
            </a:pPr>
            <a:r>
              <a:rPr lang="en-US" sz="1000" b="1" spc="200" kern="0" dirty="0">
                <a:solidFill>
                  <a:srgbClr val="3F6E93"/>
                </a:solidFill>
                <a:latin typeface="Calibri" pitchFamily="34" charset="0"/>
                <a:ea typeface="Calibri" pitchFamily="34" charset="-122"/>
                <a:cs typeface="Calibri" pitchFamily="34" charset="-120"/>
              </a:rPr>
              <a:t>TEAMET</a:t>
            </a:r>
            <a:endParaRPr lang="en-US" sz="1000" dirty="0"/>
          </a:p>
        </p:txBody>
      </p:sp>
      <p:sp>
        <p:nvSpPr>
          <p:cNvPr id="26" name="Text 20"/>
          <p:cNvSpPr txBox="1"/>
          <p:nvPr/>
        </p:nvSpPr>
        <p:spPr>
          <a:xfrm>
            <a:off x="7909560" y="2011680"/>
            <a:ext cx="3322015" cy="3474720"/>
          </a:xfrm>
          <a:prstGeom prst="rect">
            <a:avLst/>
          </a:prstGeom>
          <a:noFill/>
          <a:ln/>
        </p:spPr>
        <p:txBody>
          <a:bodyPr wrap="square" lIns="0" tIns="0" rIns="0" bIns="0" rtlCol="0" anchor="t"/>
          <a:lstStyle/>
          <a:p>
            <a:pPr indent="0" marL="0">
              <a:spcAft>
                <a:spcPts val="600"/>
              </a:spcAft>
              <a:buNone/>
            </a:pPr>
            <a:r>
              <a:rPr lang="en-US" sz="1400" i="1" dirty="0">
                <a:solidFill>
                  <a:srgbClr val="3F6E93"/>
                </a:solidFill>
                <a:latin typeface="Calibri" pitchFamily="34" charset="0"/>
                <a:ea typeface="Calibri" pitchFamily="34" charset="-122"/>
                <a:cs typeface="Calibri" pitchFamily="34" charset="-120"/>
              </a:rPr>
              <a:t>[Navn – rolle]</a:t>
            </a:r>
            <a:pPr indent="0" marL="0">
              <a:spcAft>
                <a:spcPts val="600"/>
              </a:spcAft>
              <a:buNone/>
            </a:pPr>
            <a:endParaRPr lang="en-US" sz="1400" dirty="0"/>
          </a:p>
          <a:p>
            <a:pPr indent="0" marL="0">
              <a:spcAft>
                <a:spcPts val="600"/>
              </a:spcAft>
              <a:buNone/>
            </a:pPr>
            <a:r>
              <a:rPr lang="en-US" sz="1400" i="1" dirty="0">
                <a:solidFill>
                  <a:srgbClr val="3F6E93"/>
                </a:solidFill>
                <a:latin typeface="Calibri" pitchFamily="34" charset="0"/>
                <a:ea typeface="Calibri" pitchFamily="34" charset="-122"/>
                <a:cs typeface="Calibri" pitchFamily="34" charset="-120"/>
              </a:rPr>
              <a:t>[Navn – rolle]</a:t>
            </a:r>
            <a:pPr indent="0" marL="0">
              <a:spcAft>
                <a:spcPts val="600"/>
              </a:spcAft>
              <a:buNone/>
            </a:pPr>
            <a:endParaRPr lang="en-US" sz="1400" dirty="0"/>
          </a:p>
          <a:p>
            <a:pPr indent="0" marL="0">
              <a:spcAft>
                <a:spcPts val="600"/>
              </a:spcAft>
              <a:buNone/>
            </a:pPr>
            <a:r>
              <a:rPr lang="en-US" sz="1400" i="1" dirty="0">
                <a:solidFill>
                  <a:srgbClr val="3F6E93"/>
                </a:solidFill>
                <a:latin typeface="Calibri" pitchFamily="34" charset="0"/>
                <a:ea typeface="Calibri" pitchFamily="34" charset="-122"/>
                <a:cs typeface="Calibri" pitchFamily="34" charset="-120"/>
              </a:rPr>
              <a:t>[Navn – rolle]</a:t>
            </a:r>
            <a:pPr indent="0" marL="0">
              <a:spcAft>
                <a:spcPts val="600"/>
              </a:spcAft>
              <a:buNone/>
            </a:pPr>
            <a:endParaRPr lang="en-US" sz="1400" dirty="0"/>
          </a:p>
          <a:p>
            <a:pPr indent="0" marL="0">
              <a:spcAft>
                <a:spcPts val="600"/>
              </a:spcAft>
              <a:buNone/>
            </a:pPr>
            <a:r>
              <a:rPr lang="en-US" sz="1400" dirty="0">
                <a:solidFill>
                  <a:srgbClr val="1F29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b="1" dirty="0">
                <a:solidFill>
                  <a:srgbClr val="14283C"/>
                </a:solidFill>
                <a:latin typeface="Calibri" pitchFamily="34" charset="0"/>
                <a:ea typeface="Calibri" pitchFamily="34" charset="-122"/>
                <a:cs typeface="Calibri" pitchFamily="34" charset="-120"/>
              </a:rPr>
              <a:t>Din rolle: </a:t>
            </a:r>
            <a:pPr indent="0" marL="0">
              <a:spcAft>
                <a:spcPts val="600"/>
              </a:spcAft>
              <a:buNone/>
            </a:pPr>
            <a:r>
              <a:rPr lang="en-US" sz="1400" dirty="0">
                <a:solidFill>
                  <a:srgbClr val="1F2933"/>
                </a:solidFill>
                <a:latin typeface="Calibri" pitchFamily="34" charset="0"/>
                <a:ea typeface="Calibri" pitchFamily="34" charset="-122"/>
                <a:cs typeface="Calibri" pitchFamily="34" charset="-120"/>
              </a:rPr>
              <a:t>du kjenner byggene, brukerne og hverdagen. Uten det vet vi ikke hvilke problemer som er verdt å løse.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Det vi jobber med nå</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HVA</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8 / 18</a:t>
            </a:r>
            <a:endParaRPr lang="en-US" sz="900" dirty="0"/>
          </a:p>
        </p:txBody>
      </p:sp>
      <p:sp>
        <p:nvSpPr>
          <p:cNvPr id="6" name="Shape 4"/>
          <p:cNvSpPr/>
          <p:nvPr/>
        </p:nvSpPr>
        <p:spPr>
          <a:xfrm>
            <a:off x="640080" y="1554480"/>
            <a:ext cx="3454298" cy="3200400"/>
          </a:xfrm>
          <a:prstGeom prst="roundRect">
            <a:avLst>
              <a:gd name="adj" fmla="val 3429"/>
            </a:avLst>
          </a:prstGeom>
          <a:solidFill>
            <a:srgbClr val="F4F7FA"/>
          </a:solidFill>
          <a:ln w="12700">
            <a:solidFill>
              <a:srgbClr val="F4F7FA"/>
            </a:solidFill>
            <a:prstDash val="solid"/>
          </a:ln>
        </p:spPr>
      </p:sp>
      <p:sp>
        <p:nvSpPr>
          <p:cNvPr id="7" name="Shape 5"/>
          <p:cNvSpPr/>
          <p:nvPr/>
        </p:nvSpPr>
        <p:spPr>
          <a:xfrm>
            <a:off x="914400" y="1828800"/>
            <a:ext cx="640080" cy="640080"/>
          </a:xfrm>
          <a:prstGeom prst="ellipse">
            <a:avLst/>
          </a:prstGeom>
          <a:solidFill>
            <a:srgbClr val="14283C"/>
          </a:solidFill>
          <a:ln w="12700">
            <a:solidFill>
              <a:srgbClr val="14283C"/>
            </a:solidFill>
            <a:prstDash val="solid"/>
          </a:ln>
        </p:spPr>
      </p:sp>
      <p:pic>
        <p:nvPicPr>
          <p:cNvPr id="8" name="Image 0" descr="preencoded.png">    </p:cNvPr>
          <p:cNvPicPr>
            <a:picLocks noChangeAspect="1"/>
          </p:cNvPicPr>
          <p:nvPr/>
        </p:nvPicPr>
        <p:blipFill>
          <a:blip r:embed="rId1"/>
          <a:stretch>
            <a:fillRect/>
          </a:stretch>
        </p:blipFill>
        <p:spPr>
          <a:xfrm>
            <a:off x="1074420" y="1988820"/>
            <a:ext cx="320040" cy="320040"/>
          </a:xfrm>
          <a:prstGeom prst="rect">
            <a:avLst/>
          </a:prstGeom>
        </p:spPr>
      </p:pic>
      <p:sp>
        <p:nvSpPr>
          <p:cNvPr id="9" name="Text 6"/>
          <p:cNvSpPr txBox="1"/>
          <p:nvPr/>
        </p:nvSpPr>
        <p:spPr>
          <a:xfrm>
            <a:off x="914400"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[Fokusområde 1]</a:t>
            </a:r>
            <a:endParaRPr lang="en-US" sz="1700" dirty="0"/>
          </a:p>
        </p:txBody>
      </p:sp>
      <p:sp>
        <p:nvSpPr>
          <p:cNvPr id="10" name="Text 7"/>
          <p:cNvSpPr txBox="1"/>
          <p:nvPr/>
        </p:nvSpPr>
        <p:spPr>
          <a:xfrm>
            <a:off x="914400" y="3154680"/>
            <a:ext cx="2905658" cy="1371600"/>
          </a:xfrm>
          <a:prstGeom prst="rect">
            <a:avLst/>
          </a:prstGeom>
          <a:noFill/>
          <a:ln/>
        </p:spPr>
        <p:txBody>
          <a:bodyPr wrap="square" lIns="0" tIns="0" rIns="0" bIns="0" rtlCol="0" anchor="t"/>
          <a:lstStyle/>
          <a:p>
            <a:pPr indent="0" marL="0">
              <a:buNone/>
            </a:pPr>
            <a:r>
              <a:rPr lang="en-US" sz="1350" i="1" dirty="0">
                <a:solidFill>
                  <a:srgbClr val="66737F"/>
                </a:solidFill>
                <a:latin typeface="Calibri" pitchFamily="34" charset="0"/>
                <a:ea typeface="Calibri" pitchFamily="34" charset="-122"/>
                <a:cs typeface="Calibri" pitchFamily="34" charset="-120"/>
              </a:rPr>
              <a:t>Eksempel: standardiserte romløsninger for politispesifikke arealer.</a:t>
            </a:r>
            <a:endParaRPr lang="en-US" sz="1350" dirty="0"/>
          </a:p>
          <a:p>
            <a:pPr indent="0" marL="0">
              <a:buNone/>
            </a:pPr>
            <a:r>
              <a:rPr lang="en-US" sz="1350" dirty="0">
                <a:solidFill>
                  <a:srgbClr val="1F2933"/>
                </a:solidFill>
                <a:latin typeface="Calibri" pitchFamily="34" charset="0"/>
                <a:ea typeface="Calibri" pitchFamily="34" charset="-122"/>
                <a:cs typeface="Calibri" pitchFamily="34" charset="-120"/>
              </a:rPr>
              <a:t> </a:t>
            </a:r>
            <a:endParaRPr lang="en-US" sz="1350" dirty="0"/>
          </a:p>
          <a:p>
            <a:pPr indent="0" marL="0">
              <a:buNone/>
            </a:pPr>
            <a:r>
              <a:rPr lang="en-US" sz="1350" b="1" dirty="0">
                <a:solidFill>
                  <a:srgbClr val="1F2933"/>
                </a:solidFill>
                <a:latin typeface="Calibri" pitchFamily="34" charset="0"/>
                <a:ea typeface="Calibri" pitchFamily="34" charset="-122"/>
                <a:cs typeface="Calibri" pitchFamily="34" charset="-120"/>
              </a:rPr>
              <a:t>Status: </a:t>
            </a:r>
            <a:pPr indent="0" marL="0">
              <a:buNone/>
            </a:pPr>
            <a:r>
              <a:rPr lang="en-US" sz="1350" i="1" dirty="0">
                <a:solidFill>
                  <a:srgbClr val="3F6E93"/>
                </a:solidFill>
                <a:latin typeface="Calibri" pitchFamily="34" charset="0"/>
                <a:ea typeface="Calibri" pitchFamily="34" charset="-122"/>
                <a:cs typeface="Calibri" pitchFamily="34" charset="-120"/>
              </a:rPr>
              <a:t>[pilot / utrulling / idé]</a:t>
            </a:r>
            <a:endParaRPr lang="en-US" sz="1350" dirty="0"/>
          </a:p>
        </p:txBody>
      </p:sp>
      <p:sp>
        <p:nvSpPr>
          <p:cNvPr id="11" name="Shape 8"/>
          <p:cNvSpPr/>
          <p:nvPr/>
        </p:nvSpPr>
        <p:spPr>
          <a:xfrm>
            <a:off x="4368698" y="1554480"/>
            <a:ext cx="3454298" cy="3200400"/>
          </a:xfrm>
          <a:prstGeom prst="roundRect">
            <a:avLst>
              <a:gd name="adj" fmla="val 3429"/>
            </a:avLst>
          </a:prstGeom>
          <a:solidFill>
            <a:srgbClr val="F4F7FA"/>
          </a:solidFill>
          <a:ln w="12700">
            <a:solidFill>
              <a:srgbClr val="F4F7FA"/>
            </a:solidFill>
            <a:prstDash val="solid"/>
          </a:ln>
        </p:spPr>
      </p:sp>
      <p:sp>
        <p:nvSpPr>
          <p:cNvPr id="12" name="Shape 9"/>
          <p:cNvSpPr/>
          <p:nvPr/>
        </p:nvSpPr>
        <p:spPr>
          <a:xfrm>
            <a:off x="4643018" y="1828800"/>
            <a:ext cx="640080" cy="640080"/>
          </a:xfrm>
          <a:prstGeom prst="ellipse">
            <a:avLst/>
          </a:prstGeom>
          <a:solidFill>
            <a:srgbClr val="14283C"/>
          </a:solidFill>
          <a:ln w="12700">
            <a:solidFill>
              <a:srgbClr val="14283C"/>
            </a:solidFill>
            <a:prstDash val="solid"/>
          </a:ln>
        </p:spPr>
      </p:sp>
      <p:pic>
        <p:nvPicPr>
          <p:cNvPr id="13" name="Image 1" descr="preencoded.png">    </p:cNvPr>
          <p:cNvPicPr>
            <a:picLocks noChangeAspect="1"/>
          </p:cNvPicPr>
          <p:nvPr/>
        </p:nvPicPr>
        <p:blipFill>
          <a:blip r:embed="rId2"/>
          <a:stretch>
            <a:fillRect/>
          </a:stretch>
        </p:blipFill>
        <p:spPr>
          <a:xfrm>
            <a:off x="4803038" y="1988820"/>
            <a:ext cx="320040" cy="320040"/>
          </a:xfrm>
          <a:prstGeom prst="rect">
            <a:avLst/>
          </a:prstGeom>
        </p:spPr>
      </p:pic>
      <p:sp>
        <p:nvSpPr>
          <p:cNvPr id="14" name="Text 10"/>
          <p:cNvSpPr txBox="1"/>
          <p:nvPr/>
        </p:nvSpPr>
        <p:spPr>
          <a:xfrm>
            <a:off x="4643018"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[Fokusområde 2]</a:t>
            </a:r>
            <a:endParaRPr lang="en-US" sz="1700" dirty="0"/>
          </a:p>
        </p:txBody>
      </p:sp>
      <p:sp>
        <p:nvSpPr>
          <p:cNvPr id="15" name="Text 11"/>
          <p:cNvSpPr txBox="1"/>
          <p:nvPr/>
        </p:nvSpPr>
        <p:spPr>
          <a:xfrm>
            <a:off x="4643018" y="3154680"/>
            <a:ext cx="2905658" cy="1371600"/>
          </a:xfrm>
          <a:prstGeom prst="rect">
            <a:avLst/>
          </a:prstGeom>
          <a:noFill/>
          <a:ln/>
        </p:spPr>
        <p:txBody>
          <a:bodyPr wrap="square" lIns="0" tIns="0" rIns="0" bIns="0" rtlCol="0" anchor="t"/>
          <a:lstStyle/>
          <a:p>
            <a:pPr indent="0" marL="0">
              <a:buNone/>
            </a:pPr>
            <a:r>
              <a:rPr lang="en-US" sz="1350" i="1" dirty="0">
                <a:solidFill>
                  <a:srgbClr val="66737F"/>
                </a:solidFill>
                <a:latin typeface="Calibri" pitchFamily="34" charset="0"/>
                <a:ea typeface="Calibri" pitchFamily="34" charset="-122"/>
                <a:cs typeface="Calibri" pitchFamily="34" charset="-120"/>
              </a:rPr>
              <a:t>Eksempel: digitale verktøy for drift, avvik og tilstand.</a:t>
            </a:r>
            <a:endParaRPr lang="en-US" sz="1350" dirty="0"/>
          </a:p>
          <a:p>
            <a:pPr indent="0" marL="0">
              <a:buNone/>
            </a:pPr>
            <a:r>
              <a:rPr lang="en-US" sz="1350" dirty="0">
                <a:solidFill>
                  <a:srgbClr val="1F2933"/>
                </a:solidFill>
                <a:latin typeface="Calibri" pitchFamily="34" charset="0"/>
                <a:ea typeface="Calibri" pitchFamily="34" charset="-122"/>
                <a:cs typeface="Calibri" pitchFamily="34" charset="-120"/>
              </a:rPr>
              <a:t> </a:t>
            </a:r>
            <a:endParaRPr lang="en-US" sz="1350" dirty="0"/>
          </a:p>
          <a:p>
            <a:pPr indent="0" marL="0">
              <a:buNone/>
            </a:pPr>
            <a:r>
              <a:rPr lang="en-US" sz="1350" b="1" dirty="0">
                <a:solidFill>
                  <a:srgbClr val="1F2933"/>
                </a:solidFill>
                <a:latin typeface="Calibri" pitchFamily="34" charset="0"/>
                <a:ea typeface="Calibri" pitchFamily="34" charset="-122"/>
                <a:cs typeface="Calibri" pitchFamily="34" charset="-120"/>
              </a:rPr>
              <a:t>Status: </a:t>
            </a:r>
            <a:pPr indent="0" marL="0">
              <a:buNone/>
            </a:pPr>
            <a:r>
              <a:rPr lang="en-US" sz="1350" i="1" dirty="0">
                <a:solidFill>
                  <a:srgbClr val="3F6E93"/>
                </a:solidFill>
                <a:latin typeface="Calibri" pitchFamily="34" charset="0"/>
                <a:ea typeface="Calibri" pitchFamily="34" charset="-122"/>
                <a:cs typeface="Calibri" pitchFamily="34" charset="-120"/>
              </a:rPr>
              <a:t>[pilot / utrulling / idé]</a:t>
            </a:r>
            <a:endParaRPr lang="en-US" sz="1350" dirty="0"/>
          </a:p>
        </p:txBody>
      </p:sp>
      <p:sp>
        <p:nvSpPr>
          <p:cNvPr id="16" name="Shape 12"/>
          <p:cNvSpPr/>
          <p:nvPr/>
        </p:nvSpPr>
        <p:spPr>
          <a:xfrm>
            <a:off x="8097317" y="1554480"/>
            <a:ext cx="3454298" cy="3200400"/>
          </a:xfrm>
          <a:prstGeom prst="roundRect">
            <a:avLst>
              <a:gd name="adj" fmla="val 3429"/>
            </a:avLst>
          </a:prstGeom>
          <a:solidFill>
            <a:srgbClr val="F4F7FA"/>
          </a:solidFill>
          <a:ln w="12700">
            <a:solidFill>
              <a:srgbClr val="F4F7FA"/>
            </a:solidFill>
            <a:prstDash val="solid"/>
          </a:ln>
        </p:spPr>
      </p:sp>
      <p:sp>
        <p:nvSpPr>
          <p:cNvPr id="17" name="Shape 13"/>
          <p:cNvSpPr/>
          <p:nvPr/>
        </p:nvSpPr>
        <p:spPr>
          <a:xfrm>
            <a:off x="8371637" y="1828800"/>
            <a:ext cx="640080" cy="640080"/>
          </a:xfrm>
          <a:prstGeom prst="ellipse">
            <a:avLst/>
          </a:prstGeom>
          <a:solidFill>
            <a:srgbClr val="14283C"/>
          </a:solidFill>
          <a:ln w="12700">
            <a:solidFill>
              <a:srgbClr val="14283C"/>
            </a:solidFill>
            <a:prstDash val="solid"/>
          </a:ln>
        </p:spPr>
      </p:sp>
      <p:pic>
        <p:nvPicPr>
          <p:cNvPr id="18" name="Image 2" descr="preencoded.png">    </p:cNvPr>
          <p:cNvPicPr>
            <a:picLocks noChangeAspect="1"/>
          </p:cNvPicPr>
          <p:nvPr/>
        </p:nvPicPr>
        <p:blipFill>
          <a:blip r:embed="rId3"/>
          <a:stretch>
            <a:fillRect/>
          </a:stretch>
        </p:blipFill>
        <p:spPr>
          <a:xfrm>
            <a:off x="8531657" y="1988820"/>
            <a:ext cx="320040" cy="320040"/>
          </a:xfrm>
          <a:prstGeom prst="rect">
            <a:avLst/>
          </a:prstGeom>
        </p:spPr>
      </p:pic>
      <p:sp>
        <p:nvSpPr>
          <p:cNvPr id="19" name="Text 14"/>
          <p:cNvSpPr txBox="1"/>
          <p:nvPr/>
        </p:nvSpPr>
        <p:spPr>
          <a:xfrm>
            <a:off x="8371637"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[Fokusområde 3]</a:t>
            </a:r>
            <a:endParaRPr lang="en-US" sz="1700" dirty="0"/>
          </a:p>
        </p:txBody>
      </p:sp>
      <p:sp>
        <p:nvSpPr>
          <p:cNvPr id="20" name="Text 15"/>
          <p:cNvSpPr txBox="1"/>
          <p:nvPr/>
        </p:nvSpPr>
        <p:spPr>
          <a:xfrm>
            <a:off x="8371637" y="3154680"/>
            <a:ext cx="2905658" cy="1371600"/>
          </a:xfrm>
          <a:prstGeom prst="rect">
            <a:avLst/>
          </a:prstGeom>
          <a:noFill/>
          <a:ln/>
        </p:spPr>
        <p:txBody>
          <a:bodyPr wrap="square" lIns="0" tIns="0" rIns="0" bIns="0" rtlCol="0" anchor="t"/>
          <a:lstStyle/>
          <a:p>
            <a:pPr indent="0" marL="0">
              <a:buNone/>
            </a:pPr>
            <a:r>
              <a:rPr lang="en-US" sz="1350" i="1" dirty="0">
                <a:solidFill>
                  <a:srgbClr val="66737F"/>
                </a:solidFill>
                <a:latin typeface="Calibri" pitchFamily="34" charset="0"/>
                <a:ea typeface="Calibri" pitchFamily="34" charset="-122"/>
                <a:cs typeface="Calibri" pitchFamily="34" charset="-120"/>
              </a:rPr>
              <a:t>Eksempel: sikkerhet og funksjonalitet i nye og ombygde lokaler.</a:t>
            </a:r>
            <a:endParaRPr lang="en-US" sz="1350" dirty="0"/>
          </a:p>
          <a:p>
            <a:pPr indent="0" marL="0">
              <a:buNone/>
            </a:pPr>
            <a:r>
              <a:rPr lang="en-US" sz="1350" dirty="0">
                <a:solidFill>
                  <a:srgbClr val="1F2933"/>
                </a:solidFill>
                <a:latin typeface="Calibri" pitchFamily="34" charset="0"/>
                <a:ea typeface="Calibri" pitchFamily="34" charset="-122"/>
                <a:cs typeface="Calibri" pitchFamily="34" charset="-120"/>
              </a:rPr>
              <a:t> </a:t>
            </a:r>
            <a:endParaRPr lang="en-US" sz="1350" dirty="0"/>
          </a:p>
          <a:p>
            <a:pPr indent="0" marL="0">
              <a:buNone/>
            </a:pPr>
            <a:r>
              <a:rPr lang="en-US" sz="1350" b="1" dirty="0">
                <a:solidFill>
                  <a:srgbClr val="1F2933"/>
                </a:solidFill>
                <a:latin typeface="Calibri" pitchFamily="34" charset="0"/>
                <a:ea typeface="Calibri" pitchFamily="34" charset="-122"/>
                <a:cs typeface="Calibri" pitchFamily="34" charset="-120"/>
              </a:rPr>
              <a:t>Status: </a:t>
            </a:r>
            <a:pPr indent="0" marL="0">
              <a:buNone/>
            </a:pPr>
            <a:r>
              <a:rPr lang="en-US" sz="1350" i="1" dirty="0">
                <a:solidFill>
                  <a:srgbClr val="3F6E93"/>
                </a:solidFill>
                <a:latin typeface="Calibri" pitchFamily="34" charset="0"/>
                <a:ea typeface="Calibri" pitchFamily="34" charset="-122"/>
                <a:cs typeface="Calibri" pitchFamily="34" charset="-120"/>
              </a:rPr>
              <a:t>[pilot / utrulling / idé]</a:t>
            </a:r>
            <a:endParaRPr lang="en-US" sz="1350" dirty="0"/>
          </a:p>
        </p:txBody>
      </p:sp>
      <p:sp>
        <p:nvSpPr>
          <p:cNvPr id="21" name="Text 16"/>
          <p:cNvSpPr txBox="1"/>
          <p:nvPr/>
        </p:nvSpPr>
        <p:spPr>
          <a:xfrm>
            <a:off x="640080" y="5029200"/>
            <a:ext cx="10911535" cy="365760"/>
          </a:xfrm>
          <a:prstGeom prst="rect">
            <a:avLst/>
          </a:prstGeom>
          <a:noFill/>
          <a:ln/>
        </p:spPr>
        <p:txBody>
          <a:bodyPr wrap="square" lIns="0" tIns="0" rIns="0" bIns="0" rtlCol="0" anchor="ctr"/>
          <a:lstStyle/>
          <a:p>
            <a:pPr indent="0" marL="0">
              <a:buNone/>
            </a:pPr>
            <a:r>
              <a:rPr lang="en-US" sz="1200" i="1" dirty="0">
                <a:solidFill>
                  <a:srgbClr val="66737F"/>
                </a:solidFill>
                <a:latin typeface="Calibri" pitchFamily="34" charset="0"/>
                <a:ea typeface="Calibri" pitchFamily="34" charset="-122"/>
                <a:cs typeface="Calibri" pitchFamily="34" charset="-120"/>
              </a:rPr>
              <a:t>Én setning per område: hvilket problem, for hvem, og hvor langt er vi kommet.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Fra behov til felles løsning</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HVORDAN</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9 / 18</a:t>
            </a:r>
            <a:endParaRPr lang="en-US" sz="900" dirty="0"/>
          </a:p>
        </p:txBody>
      </p:sp>
      <p:sp>
        <p:nvSpPr>
          <p:cNvPr id="6" name="Shape 4"/>
          <p:cNvSpPr/>
          <p:nvPr/>
        </p:nvSpPr>
        <p:spPr>
          <a:xfrm>
            <a:off x="640080" y="1737360"/>
            <a:ext cx="2419274" cy="3017520"/>
          </a:xfrm>
          <a:prstGeom prst="roundRect">
            <a:avLst>
              <a:gd name="adj" fmla="val 4536"/>
            </a:avLst>
          </a:prstGeom>
          <a:solidFill>
            <a:srgbClr val="F4F7FA"/>
          </a:solidFill>
          <a:ln w="12700">
            <a:solidFill>
              <a:srgbClr val="F4F7FA"/>
            </a:solidFill>
            <a:prstDash val="solid"/>
          </a:ln>
        </p:spPr>
      </p:sp>
      <p:sp>
        <p:nvSpPr>
          <p:cNvPr id="7" name="Shape 5"/>
          <p:cNvSpPr/>
          <p:nvPr/>
        </p:nvSpPr>
        <p:spPr>
          <a:xfrm>
            <a:off x="914400" y="1965960"/>
            <a:ext cx="384048" cy="384048"/>
          </a:xfrm>
          <a:prstGeom prst="ellipse">
            <a:avLst/>
          </a:prstGeom>
          <a:solidFill>
            <a:srgbClr val="E0A526"/>
          </a:solidFill>
          <a:ln w="12700">
            <a:solidFill>
              <a:srgbClr val="E0A526"/>
            </a:solidFill>
            <a:prstDash val="solid"/>
          </a:ln>
        </p:spPr>
      </p:sp>
      <p:sp>
        <p:nvSpPr>
          <p:cNvPr id="8" name="Text 6"/>
          <p:cNvSpPr txBox="1"/>
          <p:nvPr/>
        </p:nvSpPr>
        <p:spPr>
          <a:xfrm>
            <a:off x="914400" y="1965960"/>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1</a:t>
            </a:r>
            <a:endParaRPr lang="en-US" sz="1400" dirty="0"/>
          </a:p>
        </p:txBody>
      </p:sp>
      <p:sp>
        <p:nvSpPr>
          <p:cNvPr id="9" name="Shape 7"/>
          <p:cNvSpPr/>
          <p:nvPr/>
        </p:nvSpPr>
        <p:spPr>
          <a:xfrm>
            <a:off x="2144954" y="1920240"/>
            <a:ext cx="640080" cy="640080"/>
          </a:xfrm>
          <a:prstGeom prst="ellipse">
            <a:avLst/>
          </a:prstGeom>
          <a:solidFill>
            <a:srgbClr val="14283C"/>
          </a:solidFill>
          <a:ln w="12700">
            <a:solidFill>
              <a:srgbClr val="14283C"/>
            </a:solidFill>
            <a:prstDash val="solid"/>
          </a:ln>
        </p:spPr>
      </p:sp>
      <p:pic>
        <p:nvPicPr>
          <p:cNvPr id="10" name="Image 0" descr="preencoded.png">    </p:cNvPr>
          <p:cNvPicPr>
            <a:picLocks noChangeAspect="1"/>
          </p:cNvPicPr>
          <p:nvPr/>
        </p:nvPicPr>
        <p:blipFill>
          <a:blip r:embed="rId1"/>
          <a:stretch>
            <a:fillRect/>
          </a:stretch>
        </p:blipFill>
        <p:spPr>
          <a:xfrm>
            <a:off x="2304974" y="2080260"/>
            <a:ext cx="320040" cy="320040"/>
          </a:xfrm>
          <a:prstGeom prst="rect">
            <a:avLst/>
          </a:prstGeom>
        </p:spPr>
      </p:pic>
      <p:sp>
        <p:nvSpPr>
          <p:cNvPr id="11" name="Text 8"/>
          <p:cNvSpPr txBox="1"/>
          <p:nvPr/>
        </p:nvSpPr>
        <p:spPr>
          <a:xfrm>
            <a:off x="914400" y="2743200"/>
            <a:ext cx="1870634" cy="457200"/>
          </a:xfrm>
          <a:prstGeom prst="rect">
            <a:avLst/>
          </a:prstGeom>
          <a:noFill/>
          <a:ln/>
        </p:spPr>
        <p:txBody>
          <a:bodyPr wrap="square" lIns="0" tIns="0" rIns="0" bIns="0" rtlCol="0" anchor="ctr"/>
          <a:lstStyle/>
          <a:p>
            <a:pPr indent="0" marL="0">
              <a:buNone/>
            </a:pPr>
            <a:r>
              <a:rPr lang="en-US" sz="1800" b="1" dirty="0">
                <a:solidFill>
                  <a:srgbClr val="14283C"/>
                </a:solidFill>
                <a:latin typeface="Cambria" pitchFamily="34" charset="0"/>
                <a:ea typeface="Cambria" pitchFamily="34" charset="-122"/>
                <a:cs typeface="Cambria" pitchFamily="34" charset="-120"/>
              </a:rPr>
              <a:t>Behov</a:t>
            </a:r>
            <a:endParaRPr lang="en-US" sz="1800" dirty="0"/>
          </a:p>
        </p:txBody>
      </p:sp>
      <p:sp>
        <p:nvSpPr>
          <p:cNvPr id="12" name="Text 9"/>
          <p:cNvSpPr txBox="1"/>
          <p:nvPr/>
        </p:nvSpPr>
        <p:spPr>
          <a:xfrm>
            <a:off x="914400" y="3246120"/>
            <a:ext cx="1870634" cy="1371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Eiendomsansvarlige og brukere melder inn. Vi sorterer etter hvor mange det gjelder.</a:t>
            </a:r>
            <a:endParaRPr lang="en-US" sz="1300" dirty="0"/>
          </a:p>
        </p:txBody>
      </p:sp>
      <p:sp>
        <p:nvSpPr>
          <p:cNvPr id="13" name="Shape 10"/>
          <p:cNvSpPr/>
          <p:nvPr/>
        </p:nvSpPr>
        <p:spPr>
          <a:xfrm>
            <a:off x="3123362" y="3017520"/>
            <a:ext cx="292608" cy="365760"/>
          </a:xfrm>
          <a:prstGeom prst="rightArrow">
            <a:avLst/>
          </a:prstGeom>
          <a:solidFill>
            <a:srgbClr val="E0A526"/>
          </a:solidFill>
          <a:ln w="12700">
            <a:solidFill>
              <a:srgbClr val="E0A526"/>
            </a:solidFill>
            <a:prstDash val="solid"/>
          </a:ln>
        </p:spPr>
      </p:sp>
      <p:sp>
        <p:nvSpPr>
          <p:cNvPr id="14" name="Shape 11"/>
          <p:cNvSpPr/>
          <p:nvPr/>
        </p:nvSpPr>
        <p:spPr>
          <a:xfrm>
            <a:off x="3470834" y="1737360"/>
            <a:ext cx="2419274" cy="3017520"/>
          </a:xfrm>
          <a:prstGeom prst="roundRect">
            <a:avLst>
              <a:gd name="adj" fmla="val 4536"/>
            </a:avLst>
          </a:prstGeom>
          <a:solidFill>
            <a:srgbClr val="F4F7FA"/>
          </a:solidFill>
          <a:ln w="12700">
            <a:solidFill>
              <a:srgbClr val="F4F7FA"/>
            </a:solidFill>
            <a:prstDash val="solid"/>
          </a:ln>
        </p:spPr>
      </p:sp>
      <p:sp>
        <p:nvSpPr>
          <p:cNvPr id="15" name="Shape 12"/>
          <p:cNvSpPr/>
          <p:nvPr/>
        </p:nvSpPr>
        <p:spPr>
          <a:xfrm>
            <a:off x="3745154" y="1965960"/>
            <a:ext cx="384048" cy="384048"/>
          </a:xfrm>
          <a:prstGeom prst="ellipse">
            <a:avLst/>
          </a:prstGeom>
          <a:solidFill>
            <a:srgbClr val="E0A526"/>
          </a:solidFill>
          <a:ln w="12700">
            <a:solidFill>
              <a:srgbClr val="E0A526"/>
            </a:solidFill>
            <a:prstDash val="solid"/>
          </a:ln>
        </p:spPr>
      </p:sp>
      <p:sp>
        <p:nvSpPr>
          <p:cNvPr id="16" name="Text 13"/>
          <p:cNvSpPr txBox="1"/>
          <p:nvPr/>
        </p:nvSpPr>
        <p:spPr>
          <a:xfrm>
            <a:off x="3745154" y="1965960"/>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2</a:t>
            </a:r>
            <a:endParaRPr lang="en-US" sz="1400" dirty="0"/>
          </a:p>
        </p:txBody>
      </p:sp>
      <p:sp>
        <p:nvSpPr>
          <p:cNvPr id="17" name="Shape 14"/>
          <p:cNvSpPr/>
          <p:nvPr/>
        </p:nvSpPr>
        <p:spPr>
          <a:xfrm>
            <a:off x="4975708" y="1920240"/>
            <a:ext cx="640080" cy="640080"/>
          </a:xfrm>
          <a:prstGeom prst="ellipse">
            <a:avLst/>
          </a:prstGeom>
          <a:solidFill>
            <a:srgbClr val="14283C"/>
          </a:solidFill>
          <a:ln w="12700">
            <a:solidFill>
              <a:srgbClr val="14283C"/>
            </a:solidFill>
            <a:prstDash val="solid"/>
          </a:ln>
        </p:spPr>
      </p:sp>
      <p:pic>
        <p:nvPicPr>
          <p:cNvPr id="18" name="Image 1" descr="preencoded.png">    </p:cNvPr>
          <p:cNvPicPr>
            <a:picLocks noChangeAspect="1"/>
          </p:cNvPicPr>
          <p:nvPr/>
        </p:nvPicPr>
        <p:blipFill>
          <a:blip r:embed="rId2"/>
          <a:stretch>
            <a:fillRect/>
          </a:stretch>
        </p:blipFill>
        <p:spPr>
          <a:xfrm>
            <a:off x="5135728" y="2080260"/>
            <a:ext cx="320040" cy="320040"/>
          </a:xfrm>
          <a:prstGeom prst="rect">
            <a:avLst/>
          </a:prstGeom>
        </p:spPr>
      </p:pic>
      <p:sp>
        <p:nvSpPr>
          <p:cNvPr id="19" name="Text 15"/>
          <p:cNvSpPr txBox="1"/>
          <p:nvPr/>
        </p:nvSpPr>
        <p:spPr>
          <a:xfrm>
            <a:off x="3745154" y="2743200"/>
            <a:ext cx="1870634" cy="457200"/>
          </a:xfrm>
          <a:prstGeom prst="rect">
            <a:avLst/>
          </a:prstGeom>
          <a:noFill/>
          <a:ln/>
        </p:spPr>
        <p:txBody>
          <a:bodyPr wrap="square" lIns="0" tIns="0" rIns="0" bIns="0" rtlCol="0" anchor="ctr"/>
          <a:lstStyle/>
          <a:p>
            <a:pPr indent="0" marL="0">
              <a:buNone/>
            </a:pPr>
            <a:r>
              <a:rPr lang="en-US" sz="1800" b="1" dirty="0">
                <a:solidFill>
                  <a:srgbClr val="14283C"/>
                </a:solidFill>
                <a:latin typeface="Cambria" pitchFamily="34" charset="0"/>
                <a:ea typeface="Cambria" pitchFamily="34" charset="-122"/>
                <a:cs typeface="Cambria" pitchFamily="34" charset="-120"/>
              </a:rPr>
              <a:t>Prototype</a:t>
            </a:r>
            <a:endParaRPr lang="en-US" sz="1800" dirty="0"/>
          </a:p>
        </p:txBody>
      </p:sp>
      <p:sp>
        <p:nvSpPr>
          <p:cNvPr id="20" name="Text 16"/>
          <p:cNvSpPr txBox="1"/>
          <p:nvPr/>
        </p:nvSpPr>
        <p:spPr>
          <a:xfrm>
            <a:off x="3745154" y="3246120"/>
            <a:ext cx="1870634" cy="1371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En enkel første versjon – skisse, mock-up eller testrom. Billig å endre.</a:t>
            </a:r>
            <a:endParaRPr lang="en-US" sz="1300" dirty="0"/>
          </a:p>
        </p:txBody>
      </p:sp>
      <p:sp>
        <p:nvSpPr>
          <p:cNvPr id="21" name="Shape 17"/>
          <p:cNvSpPr/>
          <p:nvPr/>
        </p:nvSpPr>
        <p:spPr>
          <a:xfrm>
            <a:off x="5954116" y="3017520"/>
            <a:ext cx="292608" cy="365760"/>
          </a:xfrm>
          <a:prstGeom prst="rightArrow">
            <a:avLst/>
          </a:prstGeom>
          <a:solidFill>
            <a:srgbClr val="E0A526"/>
          </a:solidFill>
          <a:ln w="12700">
            <a:solidFill>
              <a:srgbClr val="E0A526"/>
            </a:solidFill>
            <a:prstDash val="solid"/>
          </a:ln>
        </p:spPr>
      </p:sp>
      <p:sp>
        <p:nvSpPr>
          <p:cNvPr id="22" name="Shape 18"/>
          <p:cNvSpPr/>
          <p:nvPr/>
        </p:nvSpPr>
        <p:spPr>
          <a:xfrm>
            <a:off x="6301588" y="1737360"/>
            <a:ext cx="2419274" cy="3017520"/>
          </a:xfrm>
          <a:prstGeom prst="roundRect">
            <a:avLst>
              <a:gd name="adj" fmla="val 4536"/>
            </a:avLst>
          </a:prstGeom>
          <a:solidFill>
            <a:srgbClr val="EAF0F5"/>
          </a:solidFill>
          <a:ln w="12700">
            <a:solidFill>
              <a:srgbClr val="EAF0F5"/>
            </a:solidFill>
            <a:prstDash val="solid"/>
          </a:ln>
        </p:spPr>
      </p:sp>
      <p:sp>
        <p:nvSpPr>
          <p:cNvPr id="23" name="Shape 19"/>
          <p:cNvSpPr/>
          <p:nvPr/>
        </p:nvSpPr>
        <p:spPr>
          <a:xfrm>
            <a:off x="6575908" y="1965960"/>
            <a:ext cx="384048" cy="384048"/>
          </a:xfrm>
          <a:prstGeom prst="ellipse">
            <a:avLst/>
          </a:prstGeom>
          <a:solidFill>
            <a:srgbClr val="E0A526"/>
          </a:solidFill>
          <a:ln w="12700">
            <a:solidFill>
              <a:srgbClr val="E0A526"/>
            </a:solidFill>
            <a:prstDash val="solid"/>
          </a:ln>
        </p:spPr>
      </p:sp>
      <p:sp>
        <p:nvSpPr>
          <p:cNvPr id="24" name="Text 20"/>
          <p:cNvSpPr txBox="1"/>
          <p:nvPr/>
        </p:nvSpPr>
        <p:spPr>
          <a:xfrm>
            <a:off x="6575908" y="1965960"/>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3</a:t>
            </a:r>
            <a:endParaRPr lang="en-US" sz="1400" dirty="0"/>
          </a:p>
        </p:txBody>
      </p:sp>
      <p:sp>
        <p:nvSpPr>
          <p:cNvPr id="25" name="Shape 21"/>
          <p:cNvSpPr/>
          <p:nvPr/>
        </p:nvSpPr>
        <p:spPr>
          <a:xfrm>
            <a:off x="7806461" y="1920240"/>
            <a:ext cx="640080" cy="640080"/>
          </a:xfrm>
          <a:prstGeom prst="ellipse">
            <a:avLst/>
          </a:prstGeom>
          <a:solidFill>
            <a:srgbClr val="14283C"/>
          </a:solidFill>
          <a:ln w="12700">
            <a:solidFill>
              <a:srgbClr val="14283C"/>
            </a:solidFill>
            <a:prstDash val="solid"/>
          </a:ln>
        </p:spPr>
      </p:sp>
      <p:pic>
        <p:nvPicPr>
          <p:cNvPr id="26" name="Image 2" descr="preencoded.png">    </p:cNvPr>
          <p:cNvPicPr>
            <a:picLocks noChangeAspect="1"/>
          </p:cNvPicPr>
          <p:nvPr/>
        </p:nvPicPr>
        <p:blipFill>
          <a:blip r:embed="rId3"/>
          <a:stretch>
            <a:fillRect/>
          </a:stretch>
        </p:blipFill>
        <p:spPr>
          <a:xfrm>
            <a:off x="7966481" y="2080260"/>
            <a:ext cx="320040" cy="320040"/>
          </a:xfrm>
          <a:prstGeom prst="rect">
            <a:avLst/>
          </a:prstGeom>
        </p:spPr>
      </p:pic>
      <p:sp>
        <p:nvSpPr>
          <p:cNvPr id="27" name="Text 22"/>
          <p:cNvSpPr txBox="1"/>
          <p:nvPr/>
        </p:nvSpPr>
        <p:spPr>
          <a:xfrm>
            <a:off x="6575908" y="2743200"/>
            <a:ext cx="1870634" cy="457200"/>
          </a:xfrm>
          <a:prstGeom prst="rect">
            <a:avLst/>
          </a:prstGeom>
          <a:noFill/>
          <a:ln/>
        </p:spPr>
        <p:txBody>
          <a:bodyPr wrap="square" lIns="0" tIns="0" rIns="0" bIns="0" rtlCol="0" anchor="ctr"/>
          <a:lstStyle/>
          <a:p>
            <a:pPr indent="0" marL="0">
              <a:buNone/>
            </a:pPr>
            <a:r>
              <a:rPr lang="en-US" sz="1800" b="1" dirty="0">
                <a:solidFill>
                  <a:srgbClr val="14283C"/>
                </a:solidFill>
                <a:latin typeface="Cambria" pitchFamily="34" charset="0"/>
                <a:ea typeface="Cambria" pitchFamily="34" charset="-122"/>
                <a:cs typeface="Cambria" pitchFamily="34" charset="-120"/>
              </a:rPr>
              <a:t>Test i ekte lokaler</a:t>
            </a:r>
            <a:endParaRPr lang="en-US" sz="1800" dirty="0"/>
          </a:p>
        </p:txBody>
      </p:sp>
      <p:sp>
        <p:nvSpPr>
          <p:cNvPr id="28" name="Text 23"/>
          <p:cNvSpPr txBox="1"/>
          <p:nvPr/>
        </p:nvSpPr>
        <p:spPr>
          <a:xfrm>
            <a:off x="6575908" y="3246120"/>
            <a:ext cx="1870634" cy="1371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Pilot på 1–3 lokasjoner sammen med dem som skal bruke det. Vi måler og justerer.</a:t>
            </a:r>
            <a:endParaRPr lang="en-US" sz="1300" dirty="0"/>
          </a:p>
        </p:txBody>
      </p:sp>
      <p:sp>
        <p:nvSpPr>
          <p:cNvPr id="29" name="Shape 24"/>
          <p:cNvSpPr/>
          <p:nvPr/>
        </p:nvSpPr>
        <p:spPr>
          <a:xfrm>
            <a:off x="8784869" y="3017520"/>
            <a:ext cx="292608" cy="365760"/>
          </a:xfrm>
          <a:prstGeom prst="rightArrow">
            <a:avLst/>
          </a:prstGeom>
          <a:solidFill>
            <a:srgbClr val="E0A526"/>
          </a:solidFill>
          <a:ln w="12700">
            <a:solidFill>
              <a:srgbClr val="E0A526"/>
            </a:solidFill>
            <a:prstDash val="solid"/>
          </a:ln>
        </p:spPr>
      </p:sp>
      <p:sp>
        <p:nvSpPr>
          <p:cNvPr id="30" name="Shape 25"/>
          <p:cNvSpPr/>
          <p:nvPr/>
        </p:nvSpPr>
        <p:spPr>
          <a:xfrm>
            <a:off x="9132341" y="1737360"/>
            <a:ext cx="2419274" cy="3017520"/>
          </a:xfrm>
          <a:prstGeom prst="roundRect">
            <a:avLst>
              <a:gd name="adj" fmla="val 4536"/>
            </a:avLst>
          </a:prstGeom>
          <a:solidFill>
            <a:srgbClr val="F4F7FA"/>
          </a:solidFill>
          <a:ln w="12700">
            <a:solidFill>
              <a:srgbClr val="F4F7FA"/>
            </a:solidFill>
            <a:prstDash val="solid"/>
          </a:ln>
        </p:spPr>
      </p:sp>
      <p:sp>
        <p:nvSpPr>
          <p:cNvPr id="31" name="Shape 26"/>
          <p:cNvSpPr/>
          <p:nvPr/>
        </p:nvSpPr>
        <p:spPr>
          <a:xfrm>
            <a:off x="9406661" y="1965960"/>
            <a:ext cx="384048" cy="384048"/>
          </a:xfrm>
          <a:prstGeom prst="ellipse">
            <a:avLst/>
          </a:prstGeom>
          <a:solidFill>
            <a:srgbClr val="E0A526"/>
          </a:solidFill>
          <a:ln w="12700">
            <a:solidFill>
              <a:srgbClr val="E0A526"/>
            </a:solidFill>
            <a:prstDash val="solid"/>
          </a:ln>
        </p:spPr>
      </p:sp>
      <p:sp>
        <p:nvSpPr>
          <p:cNvPr id="32" name="Text 27"/>
          <p:cNvSpPr txBox="1"/>
          <p:nvPr/>
        </p:nvSpPr>
        <p:spPr>
          <a:xfrm>
            <a:off x="9406661" y="1965960"/>
            <a:ext cx="384048" cy="384048"/>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4</a:t>
            </a:r>
            <a:endParaRPr lang="en-US" sz="1400" dirty="0"/>
          </a:p>
        </p:txBody>
      </p:sp>
      <p:sp>
        <p:nvSpPr>
          <p:cNvPr id="33" name="Shape 28"/>
          <p:cNvSpPr/>
          <p:nvPr/>
        </p:nvSpPr>
        <p:spPr>
          <a:xfrm>
            <a:off x="10637215" y="1920240"/>
            <a:ext cx="640080" cy="640080"/>
          </a:xfrm>
          <a:prstGeom prst="ellipse">
            <a:avLst/>
          </a:prstGeom>
          <a:solidFill>
            <a:srgbClr val="14283C"/>
          </a:solidFill>
          <a:ln w="12700">
            <a:solidFill>
              <a:srgbClr val="14283C"/>
            </a:solidFill>
            <a:prstDash val="solid"/>
          </a:ln>
        </p:spPr>
      </p:sp>
      <p:pic>
        <p:nvPicPr>
          <p:cNvPr id="34" name="Image 3" descr="preencoded.png">    </p:cNvPr>
          <p:cNvPicPr>
            <a:picLocks noChangeAspect="1"/>
          </p:cNvPicPr>
          <p:nvPr/>
        </p:nvPicPr>
        <p:blipFill>
          <a:blip r:embed="rId4"/>
          <a:stretch>
            <a:fillRect/>
          </a:stretch>
        </p:blipFill>
        <p:spPr>
          <a:xfrm>
            <a:off x="10797235" y="2080260"/>
            <a:ext cx="320040" cy="320040"/>
          </a:xfrm>
          <a:prstGeom prst="rect">
            <a:avLst/>
          </a:prstGeom>
        </p:spPr>
      </p:pic>
      <p:sp>
        <p:nvSpPr>
          <p:cNvPr id="35" name="Text 29"/>
          <p:cNvSpPr txBox="1"/>
          <p:nvPr/>
        </p:nvSpPr>
        <p:spPr>
          <a:xfrm>
            <a:off x="9406661" y="2743200"/>
            <a:ext cx="1870634" cy="457200"/>
          </a:xfrm>
          <a:prstGeom prst="rect">
            <a:avLst/>
          </a:prstGeom>
          <a:noFill/>
          <a:ln/>
        </p:spPr>
        <p:txBody>
          <a:bodyPr wrap="square" lIns="0" tIns="0" rIns="0" bIns="0" rtlCol="0" anchor="ctr"/>
          <a:lstStyle/>
          <a:p>
            <a:pPr indent="0" marL="0">
              <a:buNone/>
            </a:pPr>
            <a:r>
              <a:rPr lang="en-US" sz="1800" b="1" dirty="0">
                <a:solidFill>
                  <a:srgbClr val="14283C"/>
                </a:solidFill>
                <a:latin typeface="Cambria" pitchFamily="34" charset="0"/>
                <a:ea typeface="Cambria" pitchFamily="34" charset="-122"/>
                <a:cs typeface="Cambria" pitchFamily="34" charset="-120"/>
              </a:rPr>
              <a:t>Skalering</a:t>
            </a:r>
            <a:endParaRPr lang="en-US" sz="1800" dirty="0"/>
          </a:p>
        </p:txBody>
      </p:sp>
      <p:sp>
        <p:nvSpPr>
          <p:cNvPr id="36" name="Text 30"/>
          <p:cNvSpPr txBox="1"/>
          <p:nvPr/>
        </p:nvSpPr>
        <p:spPr>
          <a:xfrm>
            <a:off x="9406661" y="3246120"/>
            <a:ext cx="1870634" cy="1371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Det som virker blir standard, veileder eller verktøy for hele porteføljen.</a:t>
            </a:r>
            <a:endParaRPr lang="en-US" sz="1300" dirty="0"/>
          </a:p>
        </p:txBody>
      </p:sp>
      <p:sp>
        <p:nvSpPr>
          <p:cNvPr id="37" name="Shape 31"/>
          <p:cNvSpPr/>
          <p:nvPr/>
        </p:nvSpPr>
        <p:spPr>
          <a:xfrm>
            <a:off x="1097280" y="5120640"/>
            <a:ext cx="9997135" cy="0"/>
          </a:xfrm>
          <a:prstGeom prst="line">
            <a:avLst/>
          </a:prstGeom>
          <a:noFill/>
          <a:ln w="19050">
            <a:solidFill>
              <a:srgbClr val="3F6E93"/>
            </a:solidFill>
            <a:prstDash val="dash"/>
            <a:headEnd type="triangle"/>
          </a:ln>
        </p:spPr>
      </p:sp>
      <p:sp>
        <p:nvSpPr>
          <p:cNvPr id="38" name="Text 32"/>
          <p:cNvSpPr txBox="1"/>
          <p:nvPr/>
        </p:nvSpPr>
        <p:spPr>
          <a:xfrm>
            <a:off x="640080" y="5212080"/>
            <a:ext cx="10911535" cy="365760"/>
          </a:xfrm>
          <a:prstGeom prst="rect">
            <a:avLst/>
          </a:prstGeom>
          <a:noFill/>
          <a:ln/>
        </p:spPr>
        <p:txBody>
          <a:bodyPr wrap="square" lIns="0" tIns="0" rIns="0" bIns="0" rtlCol="0" anchor="ctr"/>
          <a:lstStyle/>
          <a:p>
            <a:pPr algn="ctr" indent="0" marL="0">
              <a:buNone/>
            </a:pPr>
            <a:r>
              <a:rPr lang="en-US" sz="1200" i="1" dirty="0">
                <a:solidFill>
                  <a:srgbClr val="3F6E93"/>
                </a:solidFill>
                <a:latin typeface="Calibri" pitchFamily="34" charset="0"/>
                <a:ea typeface="Calibri" pitchFamily="34" charset="-122"/>
                <a:cs typeface="Calibri" pitchFamily="34" charset="-120"/>
              </a:rPr>
              <a:t>Læring går tilbake til start: det vi finner i piloten endrer neste behov og neste prototype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Tre prinsipper vi styrer etter</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HVORDAN</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10 / 18</a:t>
            </a:r>
            <a:endParaRPr lang="en-US" sz="900" dirty="0"/>
          </a:p>
        </p:txBody>
      </p:sp>
      <p:sp>
        <p:nvSpPr>
          <p:cNvPr id="6" name="Shape 4"/>
          <p:cNvSpPr/>
          <p:nvPr/>
        </p:nvSpPr>
        <p:spPr>
          <a:xfrm>
            <a:off x="640080" y="1554480"/>
            <a:ext cx="10911535" cy="1143000"/>
          </a:xfrm>
          <a:prstGeom prst="roundRect">
            <a:avLst>
              <a:gd name="adj" fmla="val 9600"/>
            </a:avLst>
          </a:prstGeom>
          <a:solidFill>
            <a:srgbClr val="F4F7FA"/>
          </a:solidFill>
          <a:ln w="12700">
            <a:solidFill>
              <a:srgbClr val="F4F7FA"/>
            </a:solidFill>
            <a:prstDash val="solid"/>
          </a:ln>
        </p:spPr>
      </p:sp>
      <p:sp>
        <p:nvSpPr>
          <p:cNvPr id="7" name="Shape 5"/>
          <p:cNvSpPr/>
          <p:nvPr/>
        </p:nvSpPr>
        <p:spPr>
          <a:xfrm>
            <a:off x="914400" y="1810512"/>
            <a:ext cx="640080" cy="640080"/>
          </a:xfrm>
          <a:prstGeom prst="ellipse">
            <a:avLst/>
          </a:prstGeom>
          <a:solidFill>
            <a:srgbClr val="14283C"/>
          </a:solidFill>
          <a:ln w="12700">
            <a:solidFill>
              <a:srgbClr val="14283C"/>
            </a:solidFill>
            <a:prstDash val="solid"/>
          </a:ln>
        </p:spPr>
      </p:sp>
      <p:pic>
        <p:nvPicPr>
          <p:cNvPr id="8" name="Image 0" descr="preencoded.png">    </p:cNvPr>
          <p:cNvPicPr>
            <a:picLocks noChangeAspect="1"/>
          </p:cNvPicPr>
          <p:nvPr/>
        </p:nvPicPr>
        <p:blipFill>
          <a:blip r:embed="rId1"/>
          <a:stretch>
            <a:fillRect/>
          </a:stretch>
        </p:blipFill>
        <p:spPr>
          <a:xfrm>
            <a:off x="1074420" y="1970532"/>
            <a:ext cx="320040" cy="320040"/>
          </a:xfrm>
          <a:prstGeom prst="rect">
            <a:avLst/>
          </a:prstGeom>
        </p:spPr>
      </p:pic>
      <p:sp>
        <p:nvSpPr>
          <p:cNvPr id="9" name="Text 6"/>
          <p:cNvSpPr txBox="1"/>
          <p:nvPr/>
        </p:nvSpPr>
        <p:spPr>
          <a:xfrm>
            <a:off x="1828800" y="1691640"/>
            <a:ext cx="3840480" cy="868680"/>
          </a:xfrm>
          <a:prstGeom prst="rect">
            <a:avLst/>
          </a:prstGeom>
          <a:noFill/>
          <a:ln/>
        </p:spPr>
        <p:txBody>
          <a:bodyPr wrap="square" lIns="0" tIns="0" rIns="0" bIns="0" rtlCol="0" anchor="ctr"/>
          <a:lstStyle/>
          <a:p>
            <a:pPr indent="0" marL="0">
              <a:buNone/>
            </a:pPr>
            <a:r>
              <a:rPr lang="en-US" sz="2000" b="1" dirty="0">
                <a:solidFill>
                  <a:srgbClr val="14283C"/>
                </a:solidFill>
                <a:latin typeface="Cambria" pitchFamily="34" charset="0"/>
                <a:ea typeface="Cambria" pitchFamily="34" charset="-122"/>
                <a:cs typeface="Cambria" pitchFamily="34" charset="-120"/>
              </a:rPr>
              <a:t>Test lite, lær fort</a:t>
            </a:r>
            <a:endParaRPr lang="en-US" sz="2000" dirty="0"/>
          </a:p>
        </p:txBody>
      </p:sp>
      <p:sp>
        <p:nvSpPr>
          <p:cNvPr id="10" name="Text 7"/>
          <p:cNvSpPr txBox="1"/>
          <p:nvPr/>
        </p:nvSpPr>
        <p:spPr>
          <a:xfrm>
            <a:off x="5760720" y="1691640"/>
            <a:ext cx="5516575"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Heller tre små forsøk enn ett stort prosjekt. En feil i en prototype koster en dag – i et bygg koster den år.</a:t>
            </a:r>
            <a:endParaRPr lang="en-US" sz="1400" dirty="0"/>
          </a:p>
        </p:txBody>
      </p:sp>
      <p:sp>
        <p:nvSpPr>
          <p:cNvPr id="11" name="Shape 8"/>
          <p:cNvSpPr/>
          <p:nvPr/>
        </p:nvSpPr>
        <p:spPr>
          <a:xfrm>
            <a:off x="640080" y="2880360"/>
            <a:ext cx="10911535" cy="1143000"/>
          </a:xfrm>
          <a:prstGeom prst="roundRect">
            <a:avLst>
              <a:gd name="adj" fmla="val 9600"/>
            </a:avLst>
          </a:prstGeom>
          <a:solidFill>
            <a:srgbClr val="F4F7FA"/>
          </a:solidFill>
          <a:ln w="12700">
            <a:solidFill>
              <a:srgbClr val="F4F7FA"/>
            </a:solidFill>
            <a:prstDash val="solid"/>
          </a:ln>
        </p:spPr>
      </p:sp>
      <p:sp>
        <p:nvSpPr>
          <p:cNvPr id="12" name="Shape 9"/>
          <p:cNvSpPr/>
          <p:nvPr/>
        </p:nvSpPr>
        <p:spPr>
          <a:xfrm>
            <a:off x="914400" y="3136392"/>
            <a:ext cx="640080" cy="640080"/>
          </a:xfrm>
          <a:prstGeom prst="ellipse">
            <a:avLst/>
          </a:prstGeom>
          <a:solidFill>
            <a:srgbClr val="14283C"/>
          </a:solidFill>
          <a:ln w="12700">
            <a:solidFill>
              <a:srgbClr val="14283C"/>
            </a:solidFill>
            <a:prstDash val="solid"/>
          </a:ln>
        </p:spPr>
      </p:sp>
      <p:pic>
        <p:nvPicPr>
          <p:cNvPr id="13" name="Image 1" descr="preencoded.png">    </p:cNvPr>
          <p:cNvPicPr>
            <a:picLocks noChangeAspect="1"/>
          </p:cNvPicPr>
          <p:nvPr/>
        </p:nvPicPr>
        <p:blipFill>
          <a:blip r:embed="rId2"/>
          <a:stretch>
            <a:fillRect/>
          </a:stretch>
        </p:blipFill>
        <p:spPr>
          <a:xfrm>
            <a:off x="1074420" y="3296412"/>
            <a:ext cx="320040" cy="320040"/>
          </a:xfrm>
          <a:prstGeom prst="rect">
            <a:avLst/>
          </a:prstGeom>
        </p:spPr>
      </p:pic>
      <p:sp>
        <p:nvSpPr>
          <p:cNvPr id="14" name="Text 10"/>
          <p:cNvSpPr txBox="1"/>
          <p:nvPr/>
        </p:nvSpPr>
        <p:spPr>
          <a:xfrm>
            <a:off x="1828800" y="3017520"/>
            <a:ext cx="3840480" cy="868680"/>
          </a:xfrm>
          <a:prstGeom prst="rect">
            <a:avLst/>
          </a:prstGeom>
          <a:noFill/>
          <a:ln/>
        </p:spPr>
        <p:txBody>
          <a:bodyPr wrap="square" lIns="0" tIns="0" rIns="0" bIns="0" rtlCol="0" anchor="ctr"/>
          <a:lstStyle/>
          <a:p>
            <a:pPr indent="0" marL="0">
              <a:buNone/>
            </a:pPr>
            <a:r>
              <a:rPr lang="en-US" sz="2000" b="1" dirty="0">
                <a:solidFill>
                  <a:srgbClr val="14283C"/>
                </a:solidFill>
                <a:latin typeface="Cambria" pitchFamily="34" charset="0"/>
                <a:ea typeface="Cambria" pitchFamily="34" charset="-122"/>
                <a:cs typeface="Cambria" pitchFamily="34" charset="-120"/>
              </a:rPr>
              <a:t>Brukerne avgjør</a:t>
            </a:r>
            <a:endParaRPr lang="en-US" sz="2000" dirty="0"/>
          </a:p>
        </p:txBody>
      </p:sp>
      <p:sp>
        <p:nvSpPr>
          <p:cNvPr id="15" name="Text 11"/>
          <p:cNvSpPr txBox="1"/>
          <p:nvPr/>
        </p:nvSpPr>
        <p:spPr>
          <a:xfrm>
            <a:off x="5760720" y="3017520"/>
            <a:ext cx="5516575"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Ingen løsning skaleres før de som skal bruke den har prøvd den. Eiendomsansvarlige er dommerne.</a:t>
            </a:r>
            <a:endParaRPr lang="en-US" sz="1400" dirty="0"/>
          </a:p>
        </p:txBody>
      </p:sp>
      <p:sp>
        <p:nvSpPr>
          <p:cNvPr id="16" name="Shape 12"/>
          <p:cNvSpPr/>
          <p:nvPr/>
        </p:nvSpPr>
        <p:spPr>
          <a:xfrm>
            <a:off x="640080" y="4206240"/>
            <a:ext cx="10911535" cy="1143000"/>
          </a:xfrm>
          <a:prstGeom prst="roundRect">
            <a:avLst>
              <a:gd name="adj" fmla="val 9600"/>
            </a:avLst>
          </a:prstGeom>
          <a:solidFill>
            <a:srgbClr val="F4F7FA"/>
          </a:solidFill>
          <a:ln w="12700">
            <a:solidFill>
              <a:srgbClr val="F4F7FA"/>
            </a:solidFill>
            <a:prstDash val="solid"/>
          </a:ln>
        </p:spPr>
      </p:sp>
      <p:sp>
        <p:nvSpPr>
          <p:cNvPr id="17" name="Shape 13"/>
          <p:cNvSpPr/>
          <p:nvPr/>
        </p:nvSpPr>
        <p:spPr>
          <a:xfrm>
            <a:off x="914400" y="4462272"/>
            <a:ext cx="640080" cy="640080"/>
          </a:xfrm>
          <a:prstGeom prst="ellipse">
            <a:avLst/>
          </a:prstGeom>
          <a:solidFill>
            <a:srgbClr val="14283C"/>
          </a:solidFill>
          <a:ln w="12700">
            <a:solidFill>
              <a:srgbClr val="14283C"/>
            </a:solidFill>
            <a:prstDash val="solid"/>
          </a:ln>
        </p:spPr>
      </p:sp>
      <p:pic>
        <p:nvPicPr>
          <p:cNvPr id="18" name="Image 2" descr="preencoded.png">    </p:cNvPr>
          <p:cNvPicPr>
            <a:picLocks noChangeAspect="1"/>
          </p:cNvPicPr>
          <p:nvPr/>
        </p:nvPicPr>
        <p:blipFill>
          <a:blip r:embed="rId3"/>
          <a:stretch>
            <a:fillRect/>
          </a:stretch>
        </p:blipFill>
        <p:spPr>
          <a:xfrm>
            <a:off x="1074420" y="4622292"/>
            <a:ext cx="320040" cy="320040"/>
          </a:xfrm>
          <a:prstGeom prst="rect">
            <a:avLst/>
          </a:prstGeom>
        </p:spPr>
      </p:pic>
      <p:sp>
        <p:nvSpPr>
          <p:cNvPr id="19" name="Text 14"/>
          <p:cNvSpPr txBox="1"/>
          <p:nvPr/>
        </p:nvSpPr>
        <p:spPr>
          <a:xfrm>
            <a:off x="1828800" y="4343400"/>
            <a:ext cx="3840480" cy="868680"/>
          </a:xfrm>
          <a:prstGeom prst="rect">
            <a:avLst/>
          </a:prstGeom>
          <a:noFill/>
          <a:ln/>
        </p:spPr>
        <p:txBody>
          <a:bodyPr wrap="square" lIns="0" tIns="0" rIns="0" bIns="0" rtlCol="0" anchor="ctr"/>
          <a:lstStyle/>
          <a:p>
            <a:pPr indent="0" marL="0">
              <a:buNone/>
            </a:pPr>
            <a:r>
              <a:rPr lang="en-US" sz="2000" b="1" dirty="0">
                <a:solidFill>
                  <a:srgbClr val="14283C"/>
                </a:solidFill>
                <a:latin typeface="Cambria" pitchFamily="34" charset="0"/>
                <a:ea typeface="Cambria" pitchFamily="34" charset="-122"/>
                <a:cs typeface="Cambria" pitchFamily="34" charset="-120"/>
              </a:rPr>
              <a:t>Del alt som virker</a:t>
            </a:r>
            <a:endParaRPr lang="en-US" sz="2000" dirty="0"/>
          </a:p>
        </p:txBody>
      </p:sp>
      <p:sp>
        <p:nvSpPr>
          <p:cNvPr id="20" name="Text 15"/>
          <p:cNvSpPr txBox="1"/>
          <p:nvPr/>
        </p:nvSpPr>
        <p:spPr>
          <a:xfrm>
            <a:off x="5760720" y="4343400"/>
            <a:ext cx="5516575"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Resultatet av et forsøk er ikke et bygg – det er en standard alle kan bruke. Læring er leveransen.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Sjekkpunkt: sant eller usant?</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HALVVEIS · 2 MIN</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11 / 18</a:t>
            </a:r>
            <a:endParaRPr lang="en-US" sz="900" dirty="0"/>
          </a:p>
        </p:txBody>
      </p:sp>
      <p:sp>
        <p:nvSpPr>
          <p:cNvPr id="6" name="Shape 4"/>
          <p:cNvSpPr/>
          <p:nvPr/>
        </p:nvSpPr>
        <p:spPr>
          <a:xfrm>
            <a:off x="640080" y="1554480"/>
            <a:ext cx="10911535" cy="1005840"/>
          </a:xfrm>
          <a:prstGeom prst="roundRect">
            <a:avLst>
              <a:gd name="adj" fmla="val 10909"/>
            </a:avLst>
          </a:prstGeom>
          <a:solidFill>
            <a:srgbClr val="F4F7FA"/>
          </a:solidFill>
          <a:ln w="12700">
            <a:solidFill>
              <a:srgbClr val="F4F7FA"/>
            </a:solidFill>
            <a:prstDash val="solid"/>
          </a:ln>
        </p:spPr>
      </p:sp>
      <p:sp>
        <p:nvSpPr>
          <p:cNvPr id="7" name="Shape 5"/>
          <p:cNvSpPr/>
          <p:nvPr/>
        </p:nvSpPr>
        <p:spPr>
          <a:xfrm>
            <a:off x="914400" y="1847088"/>
            <a:ext cx="420624" cy="420624"/>
          </a:xfrm>
          <a:prstGeom prst="ellipse">
            <a:avLst/>
          </a:prstGeom>
          <a:solidFill>
            <a:srgbClr val="E0A526"/>
          </a:solidFill>
          <a:ln w="12700">
            <a:solidFill>
              <a:srgbClr val="E0A526"/>
            </a:solidFill>
            <a:prstDash val="solid"/>
          </a:ln>
        </p:spPr>
      </p:sp>
      <p:sp>
        <p:nvSpPr>
          <p:cNvPr id="8" name="Text 6"/>
          <p:cNvSpPr txBox="1"/>
          <p:nvPr/>
        </p:nvSpPr>
        <p:spPr>
          <a:xfrm>
            <a:off x="914400" y="1847088"/>
            <a:ext cx="420624" cy="420624"/>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600200" y="1645920"/>
            <a:ext cx="7985455"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RF Studio bygger ferdige løsninger sentralt og sender dem ut til lokasjonene.</a:t>
            </a:r>
            <a:endParaRPr lang="en-US" sz="1700" dirty="0"/>
          </a:p>
        </p:txBody>
      </p:sp>
      <p:sp>
        <p:nvSpPr>
          <p:cNvPr id="10" name="Text 8"/>
          <p:cNvSpPr txBox="1"/>
          <p:nvPr/>
        </p:nvSpPr>
        <p:spPr>
          <a:xfrm>
            <a:off x="9631375" y="1645920"/>
            <a:ext cx="1737360" cy="822960"/>
          </a:xfrm>
          <a:prstGeom prst="rect">
            <a:avLst/>
          </a:prstGeom>
          <a:noFill/>
          <a:ln/>
        </p:spPr>
        <p:txBody>
          <a:bodyPr wrap="square" lIns="0" tIns="0" rIns="0" bIns="0" rtlCol="0" anchor="ctr"/>
          <a:lstStyle/>
          <a:p>
            <a:pPr algn="r" indent="0" marL="0">
              <a:buNone/>
            </a:pPr>
            <a:r>
              <a:rPr lang="en-US" sz="1300" b="1" dirty="0">
                <a:solidFill>
                  <a:srgbClr val="3F6E93"/>
                </a:solidFill>
                <a:latin typeface="Calibri" pitchFamily="34" charset="0"/>
                <a:ea typeface="Calibri" pitchFamily="34" charset="-122"/>
                <a:cs typeface="Calibri" pitchFamily="34" charset="-120"/>
              </a:rPr>
              <a:t>Sant   /   Usant</a:t>
            </a:r>
            <a:endParaRPr lang="en-US" sz="1300" dirty="0"/>
          </a:p>
        </p:txBody>
      </p:sp>
      <p:sp>
        <p:nvSpPr>
          <p:cNvPr id="11" name="Shape 9"/>
          <p:cNvSpPr/>
          <p:nvPr/>
        </p:nvSpPr>
        <p:spPr>
          <a:xfrm>
            <a:off x="640080" y="2743200"/>
            <a:ext cx="10911535" cy="1005840"/>
          </a:xfrm>
          <a:prstGeom prst="roundRect">
            <a:avLst>
              <a:gd name="adj" fmla="val 10909"/>
            </a:avLst>
          </a:prstGeom>
          <a:solidFill>
            <a:srgbClr val="EAF0F5"/>
          </a:solidFill>
          <a:ln w="12700">
            <a:solidFill>
              <a:srgbClr val="EAF0F5"/>
            </a:solidFill>
            <a:prstDash val="solid"/>
          </a:ln>
        </p:spPr>
      </p:sp>
      <p:sp>
        <p:nvSpPr>
          <p:cNvPr id="12" name="Shape 10"/>
          <p:cNvSpPr/>
          <p:nvPr/>
        </p:nvSpPr>
        <p:spPr>
          <a:xfrm>
            <a:off x="914400" y="3035808"/>
            <a:ext cx="420624" cy="420624"/>
          </a:xfrm>
          <a:prstGeom prst="ellipse">
            <a:avLst/>
          </a:prstGeom>
          <a:solidFill>
            <a:srgbClr val="E0A526"/>
          </a:solidFill>
          <a:ln w="12700">
            <a:solidFill>
              <a:srgbClr val="E0A526"/>
            </a:solidFill>
            <a:prstDash val="solid"/>
          </a:ln>
        </p:spPr>
      </p:sp>
      <p:sp>
        <p:nvSpPr>
          <p:cNvPr id="13" name="Text 11"/>
          <p:cNvSpPr txBox="1"/>
          <p:nvPr/>
        </p:nvSpPr>
        <p:spPr>
          <a:xfrm>
            <a:off x="914400" y="3035808"/>
            <a:ext cx="420624" cy="420624"/>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1600200" y="2834640"/>
            <a:ext cx="7985455"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En pilot testes i ekte lokaler før noe blir standard.</a:t>
            </a:r>
            <a:endParaRPr lang="en-US" sz="1700" dirty="0"/>
          </a:p>
        </p:txBody>
      </p:sp>
      <p:sp>
        <p:nvSpPr>
          <p:cNvPr id="15" name="Text 13"/>
          <p:cNvSpPr txBox="1"/>
          <p:nvPr/>
        </p:nvSpPr>
        <p:spPr>
          <a:xfrm>
            <a:off x="9631375" y="2834640"/>
            <a:ext cx="1737360" cy="822960"/>
          </a:xfrm>
          <a:prstGeom prst="rect">
            <a:avLst/>
          </a:prstGeom>
          <a:noFill/>
          <a:ln/>
        </p:spPr>
        <p:txBody>
          <a:bodyPr wrap="square" lIns="0" tIns="0" rIns="0" bIns="0" rtlCol="0" anchor="ctr"/>
          <a:lstStyle/>
          <a:p>
            <a:pPr algn="r" indent="0" marL="0">
              <a:buNone/>
            </a:pPr>
            <a:r>
              <a:rPr lang="en-US" sz="1300" b="1" dirty="0">
                <a:solidFill>
                  <a:srgbClr val="3F6E93"/>
                </a:solidFill>
                <a:latin typeface="Calibri" pitchFamily="34" charset="0"/>
                <a:ea typeface="Calibri" pitchFamily="34" charset="-122"/>
                <a:cs typeface="Calibri" pitchFamily="34" charset="-120"/>
              </a:rPr>
              <a:t>Sant   /   Usant</a:t>
            </a:r>
            <a:endParaRPr lang="en-US" sz="1300" dirty="0"/>
          </a:p>
        </p:txBody>
      </p:sp>
      <p:sp>
        <p:nvSpPr>
          <p:cNvPr id="16" name="Shape 14"/>
          <p:cNvSpPr/>
          <p:nvPr/>
        </p:nvSpPr>
        <p:spPr>
          <a:xfrm>
            <a:off x="640080" y="3931920"/>
            <a:ext cx="10911535" cy="1005840"/>
          </a:xfrm>
          <a:prstGeom prst="roundRect">
            <a:avLst>
              <a:gd name="adj" fmla="val 10909"/>
            </a:avLst>
          </a:prstGeom>
          <a:solidFill>
            <a:srgbClr val="F4F7FA"/>
          </a:solidFill>
          <a:ln w="12700">
            <a:solidFill>
              <a:srgbClr val="F4F7FA"/>
            </a:solidFill>
            <a:prstDash val="solid"/>
          </a:ln>
        </p:spPr>
      </p:sp>
      <p:sp>
        <p:nvSpPr>
          <p:cNvPr id="17" name="Shape 15"/>
          <p:cNvSpPr/>
          <p:nvPr/>
        </p:nvSpPr>
        <p:spPr>
          <a:xfrm>
            <a:off x="914400" y="4224528"/>
            <a:ext cx="420624" cy="420624"/>
          </a:xfrm>
          <a:prstGeom prst="ellipse">
            <a:avLst/>
          </a:prstGeom>
          <a:solidFill>
            <a:srgbClr val="E0A526"/>
          </a:solidFill>
          <a:ln w="12700">
            <a:solidFill>
              <a:srgbClr val="E0A526"/>
            </a:solidFill>
            <a:prstDash val="solid"/>
          </a:ln>
        </p:spPr>
      </p:sp>
      <p:sp>
        <p:nvSpPr>
          <p:cNvPr id="18" name="Text 16"/>
          <p:cNvSpPr txBox="1"/>
          <p:nvPr/>
        </p:nvSpPr>
        <p:spPr>
          <a:xfrm>
            <a:off x="914400" y="4224528"/>
            <a:ext cx="420624" cy="420624"/>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1600200" y="4023360"/>
            <a:ext cx="7985455"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Eiendomsansvarlige melder inn behov – RF Studio prioriterer etter hvor mange det gjelder.</a:t>
            </a:r>
            <a:endParaRPr lang="en-US" sz="1700" dirty="0"/>
          </a:p>
        </p:txBody>
      </p:sp>
      <p:sp>
        <p:nvSpPr>
          <p:cNvPr id="20" name="Text 18"/>
          <p:cNvSpPr txBox="1"/>
          <p:nvPr/>
        </p:nvSpPr>
        <p:spPr>
          <a:xfrm>
            <a:off x="9631375" y="4023360"/>
            <a:ext cx="1737360" cy="822960"/>
          </a:xfrm>
          <a:prstGeom prst="rect">
            <a:avLst/>
          </a:prstGeom>
          <a:noFill/>
          <a:ln/>
        </p:spPr>
        <p:txBody>
          <a:bodyPr wrap="square" lIns="0" tIns="0" rIns="0" bIns="0" rtlCol="0" anchor="ctr"/>
          <a:lstStyle/>
          <a:p>
            <a:pPr algn="r" indent="0" marL="0">
              <a:buNone/>
            </a:pPr>
            <a:r>
              <a:rPr lang="en-US" sz="1300" b="1" dirty="0">
                <a:solidFill>
                  <a:srgbClr val="3F6E93"/>
                </a:solidFill>
                <a:latin typeface="Calibri" pitchFamily="34" charset="0"/>
                <a:ea typeface="Calibri" pitchFamily="34" charset="-122"/>
                <a:cs typeface="Calibri" pitchFamily="34" charset="-120"/>
              </a:rPr>
              <a:t>Sant   /   Usant</a:t>
            </a:r>
            <a:endParaRPr lang="en-US" sz="1300" dirty="0"/>
          </a:p>
        </p:txBody>
      </p:sp>
      <p:sp>
        <p:nvSpPr>
          <p:cNvPr id="21" name="Text 19"/>
          <p:cNvSpPr txBox="1"/>
          <p:nvPr/>
        </p:nvSpPr>
        <p:spPr>
          <a:xfrm>
            <a:off x="640080" y="5212080"/>
            <a:ext cx="10911535" cy="365760"/>
          </a:xfrm>
          <a:prstGeom prst="rect">
            <a:avLst/>
          </a:prstGeom>
          <a:noFill/>
          <a:ln/>
        </p:spPr>
        <p:txBody>
          <a:bodyPr wrap="square" lIns="0" tIns="0" rIns="0" bIns="0" rtlCol="0" anchor="ctr"/>
          <a:lstStyle/>
          <a:p>
            <a:pPr indent="0" marL="0">
              <a:buNone/>
            </a:pPr>
            <a:r>
              <a:rPr lang="en-US" sz="1200" i="1" dirty="0">
                <a:solidFill>
                  <a:srgbClr val="66737F"/>
                </a:solidFill>
                <a:latin typeface="Calibri" pitchFamily="34" charset="0"/>
                <a:ea typeface="Calibri" pitchFamily="34" charset="-122"/>
                <a:cs typeface="Calibri" pitchFamily="34" charset="-120"/>
              </a:rPr>
              <a:t>Rekk opp hånden for «sant». Fasit i notatene – og på neste slide i praksis.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Eksempel 1: fra behov til løsning</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EKSEMPEL 1 AV 2</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12 / 18</a:t>
            </a:r>
            <a:endParaRPr lang="en-US" sz="900" dirty="0"/>
          </a:p>
        </p:txBody>
      </p:sp>
      <p:sp>
        <p:nvSpPr>
          <p:cNvPr id="6" name="Shape 4"/>
          <p:cNvSpPr/>
          <p:nvPr/>
        </p:nvSpPr>
        <p:spPr>
          <a:xfrm>
            <a:off x="640080" y="1508760"/>
            <a:ext cx="5272888" cy="3566160"/>
          </a:xfrm>
          <a:prstGeom prst="roundRect">
            <a:avLst>
              <a:gd name="adj" fmla="val 3077"/>
            </a:avLst>
          </a:prstGeom>
          <a:solidFill>
            <a:srgbClr val="F4F7FA"/>
          </a:solidFill>
          <a:ln w="12700">
            <a:solidFill>
              <a:srgbClr val="F4F7FA"/>
            </a:solidFill>
            <a:prstDash val="solid"/>
          </a:ln>
        </p:spPr>
      </p:sp>
      <p:sp>
        <p:nvSpPr>
          <p:cNvPr id="7" name="Text 5"/>
          <p:cNvSpPr txBox="1"/>
          <p:nvPr/>
        </p:nvSpPr>
        <p:spPr>
          <a:xfrm>
            <a:off x="960120" y="1737360"/>
            <a:ext cx="2743200" cy="320040"/>
          </a:xfrm>
          <a:prstGeom prst="rect">
            <a:avLst/>
          </a:prstGeom>
          <a:noFill/>
          <a:ln/>
        </p:spPr>
        <p:txBody>
          <a:bodyPr wrap="square" lIns="0" tIns="0" rIns="0" bIns="0" rtlCol="0" anchor="ctr"/>
          <a:lstStyle/>
          <a:p>
            <a:pPr indent="0" marL="0">
              <a:buNone/>
            </a:pPr>
            <a:r>
              <a:rPr lang="en-US" sz="1100" b="1" spc="200" kern="0" dirty="0">
                <a:solidFill>
                  <a:srgbClr val="3F6E93"/>
                </a:solidFill>
                <a:latin typeface="Calibri" pitchFamily="34" charset="0"/>
                <a:ea typeface="Calibri" pitchFamily="34" charset="-122"/>
                <a:cs typeface="Calibri" pitchFamily="34" charset="-120"/>
              </a:rPr>
              <a:t>FØR</a:t>
            </a:r>
            <a:endParaRPr lang="en-US" sz="1100" dirty="0"/>
          </a:p>
        </p:txBody>
      </p:sp>
      <p:sp>
        <p:nvSpPr>
          <p:cNvPr id="8" name="Text 6"/>
          <p:cNvSpPr txBox="1"/>
          <p:nvPr/>
        </p:nvSpPr>
        <p:spPr>
          <a:xfrm>
            <a:off x="960120" y="2148840"/>
            <a:ext cx="4632808" cy="2743200"/>
          </a:xfrm>
          <a:prstGeom prst="rect">
            <a:avLst/>
          </a:prstGeom>
          <a:noFill/>
          <a:ln/>
        </p:spPr>
        <p:txBody>
          <a:bodyPr wrap="square" lIns="0" tIns="0" rIns="0" bIns="0" rtlCol="0" anchor="t"/>
          <a:lstStyle/>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var problemet?]</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[Hvem opplevde det, og hvor ofte?]</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kostet det i tid, kroner eller kvalitet?]</a:t>
            </a:r>
            <a:endParaRPr lang="en-US" sz="1500" dirty="0"/>
          </a:p>
        </p:txBody>
      </p:sp>
      <p:sp>
        <p:nvSpPr>
          <p:cNvPr id="9" name="Shape 7"/>
          <p:cNvSpPr/>
          <p:nvPr/>
        </p:nvSpPr>
        <p:spPr>
          <a:xfrm>
            <a:off x="6278728" y="1508760"/>
            <a:ext cx="5272888" cy="3566160"/>
          </a:xfrm>
          <a:prstGeom prst="roundRect">
            <a:avLst>
              <a:gd name="adj" fmla="val 3077"/>
            </a:avLst>
          </a:prstGeom>
          <a:solidFill>
            <a:srgbClr val="EAF0F5"/>
          </a:solidFill>
          <a:ln w="12700">
            <a:solidFill>
              <a:srgbClr val="EAF0F5"/>
            </a:solidFill>
            <a:prstDash val="solid"/>
          </a:ln>
        </p:spPr>
      </p:sp>
      <p:sp>
        <p:nvSpPr>
          <p:cNvPr id="10" name="Text 8"/>
          <p:cNvSpPr txBox="1"/>
          <p:nvPr/>
        </p:nvSpPr>
        <p:spPr>
          <a:xfrm>
            <a:off x="6598768" y="1737360"/>
            <a:ext cx="2743200" cy="320040"/>
          </a:xfrm>
          <a:prstGeom prst="rect">
            <a:avLst/>
          </a:prstGeom>
          <a:noFill/>
          <a:ln/>
        </p:spPr>
        <p:txBody>
          <a:bodyPr wrap="square" lIns="0" tIns="0" rIns="0" bIns="0" rtlCol="0" anchor="ctr"/>
          <a:lstStyle/>
          <a:p>
            <a:pPr indent="0" marL="0">
              <a:buNone/>
            </a:pPr>
            <a:r>
              <a:rPr lang="en-US" sz="1100" b="1" spc="200" kern="0" dirty="0">
                <a:solidFill>
                  <a:srgbClr val="3F6E93"/>
                </a:solidFill>
                <a:latin typeface="Calibri" pitchFamily="34" charset="0"/>
                <a:ea typeface="Calibri" pitchFamily="34" charset="-122"/>
                <a:cs typeface="Calibri" pitchFamily="34" charset="-120"/>
              </a:rPr>
              <a:t>ETTER</a:t>
            </a:r>
            <a:endParaRPr lang="en-US" sz="1100" dirty="0"/>
          </a:p>
        </p:txBody>
      </p:sp>
      <p:sp>
        <p:nvSpPr>
          <p:cNvPr id="11" name="Text 9"/>
          <p:cNvSpPr txBox="1"/>
          <p:nvPr/>
        </p:nvSpPr>
        <p:spPr>
          <a:xfrm>
            <a:off x="6598768" y="2148840"/>
            <a:ext cx="4632808" cy="2743200"/>
          </a:xfrm>
          <a:prstGeom prst="rect">
            <a:avLst/>
          </a:prstGeom>
          <a:noFill/>
          <a:ln/>
        </p:spPr>
        <p:txBody>
          <a:bodyPr wrap="square" lIns="0" tIns="0" rIns="0" bIns="0" rtlCol="0" anchor="t"/>
          <a:lstStyle/>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prøvde vi ut – og hvor?]</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ble resultatet? Bruk ett tall.]</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er nå tilgjengelig for alle lokasjoner?]</a:t>
            </a:r>
            <a:endParaRPr lang="en-US" sz="1500" dirty="0"/>
          </a:p>
        </p:txBody>
      </p:sp>
      <p:sp>
        <p:nvSpPr>
          <p:cNvPr id="12" name="Shape 10"/>
          <p:cNvSpPr/>
          <p:nvPr/>
        </p:nvSpPr>
        <p:spPr>
          <a:xfrm>
            <a:off x="5949544" y="3063240"/>
            <a:ext cx="292608" cy="457200"/>
          </a:xfrm>
          <a:prstGeom prst="rightArrow">
            <a:avLst/>
          </a:prstGeom>
          <a:solidFill>
            <a:srgbClr val="E0A526"/>
          </a:solidFill>
          <a:ln w="12700">
            <a:solidFill>
              <a:srgbClr val="E0A526"/>
            </a:solidFill>
            <a:prstDash val="solid"/>
          </a:ln>
        </p:spPr>
      </p:sp>
      <p:sp>
        <p:nvSpPr>
          <p:cNvPr id="13" name="Text 11"/>
          <p:cNvSpPr txBox="1"/>
          <p:nvPr/>
        </p:nvSpPr>
        <p:spPr>
          <a:xfrm>
            <a:off x="640080" y="5257800"/>
            <a:ext cx="10911535" cy="365760"/>
          </a:xfrm>
          <a:prstGeom prst="rect">
            <a:avLst/>
          </a:prstGeom>
          <a:noFill/>
          <a:ln/>
        </p:spPr>
        <p:txBody>
          <a:bodyPr wrap="square" lIns="0" tIns="0" rIns="0" bIns="0" rtlCol="0" anchor="ctr"/>
          <a:lstStyle/>
          <a:p>
            <a:pPr indent="0" marL="0">
              <a:buNone/>
            </a:pPr>
            <a:r>
              <a:rPr lang="en-US" sz="1200" i="1" dirty="0">
                <a:solidFill>
                  <a:srgbClr val="66737F"/>
                </a:solidFill>
                <a:latin typeface="Calibri" pitchFamily="34" charset="0"/>
                <a:ea typeface="Calibri" pitchFamily="34" charset="-122"/>
                <a:cs typeface="Calibri" pitchFamily="34" charset="-120"/>
              </a:rPr>
              <a:t>Legg inn ett bilde fra piloten hvis dere har – et bilde av et ekte rom slår all tekst.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Eksempel 2: det vi lærte underveis</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EKSEMPEL 2 AV 2</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13 / 18</a:t>
            </a:r>
            <a:endParaRPr lang="en-US" sz="900" dirty="0"/>
          </a:p>
        </p:txBody>
      </p:sp>
      <p:sp>
        <p:nvSpPr>
          <p:cNvPr id="6" name="Shape 4"/>
          <p:cNvSpPr/>
          <p:nvPr/>
        </p:nvSpPr>
        <p:spPr>
          <a:xfrm>
            <a:off x="640080" y="1508760"/>
            <a:ext cx="5272888" cy="3566160"/>
          </a:xfrm>
          <a:prstGeom prst="roundRect">
            <a:avLst>
              <a:gd name="adj" fmla="val 3077"/>
            </a:avLst>
          </a:prstGeom>
          <a:solidFill>
            <a:srgbClr val="F4F7FA"/>
          </a:solidFill>
          <a:ln w="12700">
            <a:solidFill>
              <a:srgbClr val="F4F7FA"/>
            </a:solidFill>
            <a:prstDash val="solid"/>
          </a:ln>
        </p:spPr>
      </p:sp>
      <p:sp>
        <p:nvSpPr>
          <p:cNvPr id="7" name="Text 5"/>
          <p:cNvSpPr txBox="1"/>
          <p:nvPr/>
        </p:nvSpPr>
        <p:spPr>
          <a:xfrm>
            <a:off x="960120" y="1737360"/>
            <a:ext cx="2743200" cy="320040"/>
          </a:xfrm>
          <a:prstGeom prst="rect">
            <a:avLst/>
          </a:prstGeom>
          <a:noFill/>
          <a:ln/>
        </p:spPr>
        <p:txBody>
          <a:bodyPr wrap="square" lIns="0" tIns="0" rIns="0" bIns="0" rtlCol="0" anchor="ctr"/>
          <a:lstStyle/>
          <a:p>
            <a:pPr indent="0" marL="0">
              <a:buNone/>
            </a:pPr>
            <a:r>
              <a:rPr lang="en-US" sz="1100" b="1" spc="200" kern="0" dirty="0">
                <a:solidFill>
                  <a:srgbClr val="3F6E93"/>
                </a:solidFill>
                <a:latin typeface="Calibri" pitchFamily="34" charset="0"/>
                <a:ea typeface="Calibri" pitchFamily="34" charset="-122"/>
                <a:cs typeface="Calibri" pitchFamily="34" charset="-120"/>
              </a:rPr>
              <a:t>FØR</a:t>
            </a:r>
            <a:endParaRPr lang="en-US" sz="1100" dirty="0"/>
          </a:p>
        </p:txBody>
      </p:sp>
      <p:sp>
        <p:nvSpPr>
          <p:cNvPr id="8" name="Text 6"/>
          <p:cNvSpPr txBox="1"/>
          <p:nvPr/>
        </p:nvSpPr>
        <p:spPr>
          <a:xfrm>
            <a:off x="960120" y="2148840"/>
            <a:ext cx="4632808" cy="2743200"/>
          </a:xfrm>
          <a:prstGeom prst="rect">
            <a:avLst/>
          </a:prstGeom>
          <a:noFill/>
          <a:ln/>
        </p:spPr>
        <p:txBody>
          <a:bodyPr wrap="square" lIns="0" tIns="0" rIns="0" bIns="0" rtlCol="0" anchor="t"/>
          <a:lstStyle/>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var problemet?]</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[Hvem opplevde det, og hvor ofte?]</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kostet det i tid, kroner eller kvalitet?]</a:t>
            </a:r>
            <a:endParaRPr lang="en-US" sz="1500" dirty="0"/>
          </a:p>
        </p:txBody>
      </p:sp>
      <p:sp>
        <p:nvSpPr>
          <p:cNvPr id="9" name="Shape 7"/>
          <p:cNvSpPr/>
          <p:nvPr/>
        </p:nvSpPr>
        <p:spPr>
          <a:xfrm>
            <a:off x="6278728" y="1508760"/>
            <a:ext cx="5272888" cy="3566160"/>
          </a:xfrm>
          <a:prstGeom prst="roundRect">
            <a:avLst>
              <a:gd name="adj" fmla="val 3077"/>
            </a:avLst>
          </a:prstGeom>
          <a:solidFill>
            <a:srgbClr val="EAF0F5"/>
          </a:solidFill>
          <a:ln w="12700">
            <a:solidFill>
              <a:srgbClr val="EAF0F5"/>
            </a:solidFill>
            <a:prstDash val="solid"/>
          </a:ln>
        </p:spPr>
      </p:sp>
      <p:sp>
        <p:nvSpPr>
          <p:cNvPr id="10" name="Text 8"/>
          <p:cNvSpPr txBox="1"/>
          <p:nvPr/>
        </p:nvSpPr>
        <p:spPr>
          <a:xfrm>
            <a:off x="6598768" y="1737360"/>
            <a:ext cx="2743200" cy="320040"/>
          </a:xfrm>
          <a:prstGeom prst="rect">
            <a:avLst/>
          </a:prstGeom>
          <a:noFill/>
          <a:ln/>
        </p:spPr>
        <p:txBody>
          <a:bodyPr wrap="square" lIns="0" tIns="0" rIns="0" bIns="0" rtlCol="0" anchor="ctr"/>
          <a:lstStyle/>
          <a:p>
            <a:pPr indent="0" marL="0">
              <a:buNone/>
            </a:pPr>
            <a:r>
              <a:rPr lang="en-US" sz="1100" b="1" spc="200" kern="0" dirty="0">
                <a:solidFill>
                  <a:srgbClr val="3F6E93"/>
                </a:solidFill>
                <a:latin typeface="Calibri" pitchFamily="34" charset="0"/>
                <a:ea typeface="Calibri" pitchFamily="34" charset="-122"/>
                <a:cs typeface="Calibri" pitchFamily="34" charset="-120"/>
              </a:rPr>
              <a:t>ETTER</a:t>
            </a:r>
            <a:endParaRPr lang="en-US" sz="1100" dirty="0"/>
          </a:p>
        </p:txBody>
      </p:sp>
      <p:sp>
        <p:nvSpPr>
          <p:cNvPr id="11" name="Text 9"/>
          <p:cNvSpPr txBox="1"/>
          <p:nvPr/>
        </p:nvSpPr>
        <p:spPr>
          <a:xfrm>
            <a:off x="6598768" y="2148840"/>
            <a:ext cx="4632808" cy="2743200"/>
          </a:xfrm>
          <a:prstGeom prst="rect">
            <a:avLst/>
          </a:prstGeom>
          <a:noFill/>
          <a:ln/>
        </p:spPr>
        <p:txBody>
          <a:bodyPr wrap="square" lIns="0" tIns="0" rIns="0" bIns="0" rtlCol="0" anchor="t"/>
          <a:lstStyle/>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prøvde vi ut – og hvor?]</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ble resultatet? Bruk ett tall.]</a:t>
            </a:r>
            <a:endParaRPr lang="en-US" sz="1500" dirty="0"/>
          </a:p>
          <a:p>
            <a:pPr marL="177800" indent="-177800">
              <a:spcAft>
                <a:spcPts val="1000"/>
              </a:spcAft>
              <a:buSzPct val="100000"/>
              <a:buChar char="•"/>
            </a:pPr>
            <a:r>
              <a:rPr lang="en-US" sz="1500" i="1" dirty="0">
                <a:solidFill>
                  <a:srgbClr val="3F6E93"/>
                </a:solidFill>
                <a:latin typeface="Calibri" pitchFamily="34" charset="0"/>
                <a:ea typeface="Calibri" pitchFamily="34" charset="-122"/>
                <a:cs typeface="Calibri" pitchFamily="34" charset="-120"/>
              </a:rPr>
              <a:t>[Hva er nå tilgjengelig for alle lokasjoner?]</a:t>
            </a:r>
            <a:endParaRPr lang="en-US" sz="1500" dirty="0"/>
          </a:p>
        </p:txBody>
      </p:sp>
      <p:sp>
        <p:nvSpPr>
          <p:cNvPr id="12" name="Shape 10"/>
          <p:cNvSpPr/>
          <p:nvPr/>
        </p:nvSpPr>
        <p:spPr>
          <a:xfrm>
            <a:off x="5949544" y="3063240"/>
            <a:ext cx="292608" cy="457200"/>
          </a:xfrm>
          <a:prstGeom prst="rightArrow">
            <a:avLst/>
          </a:prstGeom>
          <a:solidFill>
            <a:srgbClr val="E0A526"/>
          </a:solidFill>
          <a:ln w="12700">
            <a:solidFill>
              <a:srgbClr val="E0A526"/>
            </a:solidFill>
            <a:prstDash val="solid"/>
          </a:ln>
        </p:spPr>
      </p:sp>
      <p:sp>
        <p:nvSpPr>
          <p:cNvPr id="13" name="Text 11"/>
          <p:cNvSpPr txBox="1"/>
          <p:nvPr/>
        </p:nvSpPr>
        <p:spPr>
          <a:xfrm>
            <a:off x="640080" y="5257800"/>
            <a:ext cx="10911535" cy="365760"/>
          </a:xfrm>
          <a:prstGeom prst="rect">
            <a:avLst/>
          </a:prstGeom>
          <a:noFill/>
          <a:ln/>
        </p:spPr>
        <p:txBody>
          <a:bodyPr wrap="square" lIns="0" tIns="0" rIns="0" bIns="0" rtlCol="0" anchor="ctr"/>
          <a:lstStyle/>
          <a:p>
            <a:pPr indent="0" marL="0">
              <a:buNone/>
            </a:pPr>
            <a:r>
              <a:rPr lang="en-US" sz="1200" i="1" dirty="0">
                <a:solidFill>
                  <a:srgbClr val="66737F"/>
                </a:solidFill>
                <a:latin typeface="Calibri" pitchFamily="34" charset="0"/>
                <a:ea typeface="Calibri" pitchFamily="34" charset="-122"/>
                <a:cs typeface="Calibri" pitchFamily="34" charset="-120"/>
              </a:rPr>
              <a:t>Legg inn ett bilde fra piloten hvis dere har – et bilde av et ekte rom slår all tekst.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Hva betyr dette for deg?</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FOR DEG</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14 / 18</a:t>
            </a:r>
            <a:endParaRPr lang="en-US" sz="900" dirty="0"/>
          </a:p>
        </p:txBody>
      </p:sp>
      <p:sp>
        <p:nvSpPr>
          <p:cNvPr id="6" name="Shape 4"/>
          <p:cNvSpPr/>
          <p:nvPr/>
        </p:nvSpPr>
        <p:spPr>
          <a:xfrm>
            <a:off x="640080" y="1554480"/>
            <a:ext cx="3454298" cy="3108960"/>
          </a:xfrm>
          <a:prstGeom prst="roundRect">
            <a:avLst>
              <a:gd name="adj" fmla="val 3529"/>
            </a:avLst>
          </a:prstGeom>
          <a:solidFill>
            <a:srgbClr val="F4F7FA"/>
          </a:solidFill>
          <a:ln w="12700">
            <a:solidFill>
              <a:srgbClr val="F4F7FA"/>
            </a:solidFill>
            <a:prstDash val="solid"/>
          </a:ln>
        </p:spPr>
      </p:sp>
      <p:sp>
        <p:nvSpPr>
          <p:cNvPr id="7" name="Shape 5"/>
          <p:cNvSpPr/>
          <p:nvPr/>
        </p:nvSpPr>
        <p:spPr>
          <a:xfrm>
            <a:off x="914400" y="1828800"/>
            <a:ext cx="640080" cy="640080"/>
          </a:xfrm>
          <a:prstGeom prst="ellipse">
            <a:avLst/>
          </a:prstGeom>
          <a:solidFill>
            <a:srgbClr val="E0A526"/>
          </a:solidFill>
          <a:ln w="12700">
            <a:solidFill>
              <a:srgbClr val="E0A526"/>
            </a:solidFill>
            <a:prstDash val="solid"/>
          </a:ln>
        </p:spPr>
      </p:sp>
      <p:pic>
        <p:nvPicPr>
          <p:cNvPr id="8" name="Image 0" descr="preencoded.png">    </p:cNvPr>
          <p:cNvPicPr>
            <a:picLocks noChangeAspect="1"/>
          </p:cNvPicPr>
          <p:nvPr/>
        </p:nvPicPr>
        <p:blipFill>
          <a:blip r:embed="rId1"/>
          <a:stretch>
            <a:fillRect/>
          </a:stretch>
        </p:blipFill>
        <p:spPr>
          <a:xfrm>
            <a:off x="1074420" y="1988820"/>
            <a:ext cx="320040" cy="320040"/>
          </a:xfrm>
          <a:prstGeom prst="rect">
            <a:avLst/>
          </a:prstGeom>
        </p:spPr>
      </p:pic>
      <p:sp>
        <p:nvSpPr>
          <p:cNvPr id="9" name="Text 6"/>
          <p:cNvSpPr txBox="1"/>
          <p:nvPr/>
        </p:nvSpPr>
        <p:spPr>
          <a:xfrm>
            <a:off x="914400"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Færre hjul å finne opp</a:t>
            </a:r>
            <a:endParaRPr lang="en-US" sz="1700" dirty="0"/>
          </a:p>
        </p:txBody>
      </p:sp>
      <p:sp>
        <p:nvSpPr>
          <p:cNvPr id="10" name="Text 7"/>
          <p:cNvSpPr txBox="1"/>
          <p:nvPr/>
        </p:nvSpPr>
        <p:spPr>
          <a:xfrm>
            <a:off x="914400" y="3154680"/>
            <a:ext cx="2905658" cy="128016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Løsninger som er testet et annet sted kommer til deg som ferdig veileder eller standard – ikke som et nytt prosjekt.</a:t>
            </a:r>
            <a:endParaRPr lang="en-US" sz="1350" dirty="0"/>
          </a:p>
        </p:txBody>
      </p:sp>
      <p:sp>
        <p:nvSpPr>
          <p:cNvPr id="11" name="Shape 8"/>
          <p:cNvSpPr/>
          <p:nvPr/>
        </p:nvSpPr>
        <p:spPr>
          <a:xfrm>
            <a:off x="4368698" y="1554480"/>
            <a:ext cx="3454298" cy="3108960"/>
          </a:xfrm>
          <a:prstGeom prst="roundRect">
            <a:avLst>
              <a:gd name="adj" fmla="val 3529"/>
            </a:avLst>
          </a:prstGeom>
          <a:solidFill>
            <a:srgbClr val="F4F7FA"/>
          </a:solidFill>
          <a:ln w="12700">
            <a:solidFill>
              <a:srgbClr val="F4F7FA"/>
            </a:solidFill>
            <a:prstDash val="solid"/>
          </a:ln>
        </p:spPr>
      </p:sp>
      <p:sp>
        <p:nvSpPr>
          <p:cNvPr id="12" name="Shape 9"/>
          <p:cNvSpPr/>
          <p:nvPr/>
        </p:nvSpPr>
        <p:spPr>
          <a:xfrm>
            <a:off x="4643018" y="1828800"/>
            <a:ext cx="640080" cy="640080"/>
          </a:xfrm>
          <a:prstGeom prst="ellipse">
            <a:avLst/>
          </a:prstGeom>
          <a:solidFill>
            <a:srgbClr val="E0A526"/>
          </a:solidFill>
          <a:ln w="12700">
            <a:solidFill>
              <a:srgbClr val="E0A526"/>
            </a:solidFill>
            <a:prstDash val="solid"/>
          </a:ln>
        </p:spPr>
      </p:sp>
      <p:pic>
        <p:nvPicPr>
          <p:cNvPr id="13" name="Image 1" descr="preencoded.png">    </p:cNvPr>
          <p:cNvPicPr>
            <a:picLocks noChangeAspect="1"/>
          </p:cNvPicPr>
          <p:nvPr/>
        </p:nvPicPr>
        <p:blipFill>
          <a:blip r:embed="rId2"/>
          <a:stretch>
            <a:fillRect/>
          </a:stretch>
        </p:blipFill>
        <p:spPr>
          <a:xfrm>
            <a:off x="4803038" y="1988820"/>
            <a:ext cx="320040" cy="320040"/>
          </a:xfrm>
          <a:prstGeom prst="rect">
            <a:avLst/>
          </a:prstGeom>
        </p:spPr>
      </p:pic>
      <p:sp>
        <p:nvSpPr>
          <p:cNvPr id="14" name="Text 10"/>
          <p:cNvSpPr txBox="1"/>
          <p:nvPr/>
        </p:nvSpPr>
        <p:spPr>
          <a:xfrm>
            <a:off x="4643018"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Én kanal for behov</a:t>
            </a:r>
            <a:endParaRPr lang="en-US" sz="1700" dirty="0"/>
          </a:p>
        </p:txBody>
      </p:sp>
      <p:sp>
        <p:nvSpPr>
          <p:cNvPr id="15" name="Text 11"/>
          <p:cNvSpPr txBox="1"/>
          <p:nvPr/>
        </p:nvSpPr>
        <p:spPr>
          <a:xfrm>
            <a:off x="4643018" y="3154680"/>
            <a:ext cx="2905658" cy="128016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Det du melder inn blir sett i sammenheng med resten av landet. Gjelder det mange, blir det prioritert.</a:t>
            </a:r>
            <a:endParaRPr lang="en-US" sz="1350" dirty="0"/>
          </a:p>
        </p:txBody>
      </p:sp>
      <p:sp>
        <p:nvSpPr>
          <p:cNvPr id="16" name="Shape 12"/>
          <p:cNvSpPr/>
          <p:nvPr/>
        </p:nvSpPr>
        <p:spPr>
          <a:xfrm>
            <a:off x="8097317" y="1554480"/>
            <a:ext cx="3454298" cy="3108960"/>
          </a:xfrm>
          <a:prstGeom prst="roundRect">
            <a:avLst>
              <a:gd name="adj" fmla="val 3529"/>
            </a:avLst>
          </a:prstGeom>
          <a:solidFill>
            <a:srgbClr val="F4F7FA"/>
          </a:solidFill>
          <a:ln w="12700">
            <a:solidFill>
              <a:srgbClr val="F4F7FA"/>
            </a:solidFill>
            <a:prstDash val="solid"/>
          </a:ln>
        </p:spPr>
      </p:sp>
      <p:sp>
        <p:nvSpPr>
          <p:cNvPr id="17" name="Shape 13"/>
          <p:cNvSpPr/>
          <p:nvPr/>
        </p:nvSpPr>
        <p:spPr>
          <a:xfrm>
            <a:off x="8371637" y="1828800"/>
            <a:ext cx="640080" cy="640080"/>
          </a:xfrm>
          <a:prstGeom prst="ellipse">
            <a:avLst/>
          </a:prstGeom>
          <a:solidFill>
            <a:srgbClr val="E0A526"/>
          </a:solidFill>
          <a:ln w="12700">
            <a:solidFill>
              <a:srgbClr val="E0A526"/>
            </a:solidFill>
            <a:prstDash val="solid"/>
          </a:ln>
        </p:spPr>
      </p:sp>
      <p:pic>
        <p:nvPicPr>
          <p:cNvPr id="18" name="Image 2" descr="preencoded.png">    </p:cNvPr>
          <p:cNvPicPr>
            <a:picLocks noChangeAspect="1"/>
          </p:cNvPicPr>
          <p:nvPr/>
        </p:nvPicPr>
        <p:blipFill>
          <a:blip r:embed="rId3"/>
          <a:stretch>
            <a:fillRect/>
          </a:stretch>
        </p:blipFill>
        <p:spPr>
          <a:xfrm>
            <a:off x="8531657" y="1988820"/>
            <a:ext cx="320040" cy="320040"/>
          </a:xfrm>
          <a:prstGeom prst="rect">
            <a:avLst/>
          </a:prstGeom>
        </p:spPr>
      </p:pic>
      <p:sp>
        <p:nvSpPr>
          <p:cNvPr id="19" name="Text 14"/>
          <p:cNvSpPr txBox="1"/>
          <p:nvPr/>
        </p:nvSpPr>
        <p:spPr>
          <a:xfrm>
            <a:off x="8371637" y="2606040"/>
            <a:ext cx="2905658" cy="502920"/>
          </a:xfrm>
          <a:prstGeom prst="rect">
            <a:avLst/>
          </a:prstGeom>
          <a:noFill/>
          <a:ln/>
        </p:spPr>
        <p:txBody>
          <a:bodyPr wrap="square" lIns="0" tIns="0" rIns="0" bIns="0" rtlCol="0" anchor="t"/>
          <a:lstStyle/>
          <a:p>
            <a:pPr indent="0" marL="0">
              <a:buNone/>
            </a:pPr>
            <a:r>
              <a:rPr lang="en-US" sz="1700" b="1" dirty="0">
                <a:solidFill>
                  <a:srgbClr val="14283C"/>
                </a:solidFill>
                <a:latin typeface="Cambria" pitchFamily="34" charset="0"/>
                <a:ea typeface="Cambria" pitchFamily="34" charset="-122"/>
                <a:cs typeface="Cambria" pitchFamily="34" charset="-120"/>
              </a:rPr>
              <a:t>Innsikt før endring</a:t>
            </a:r>
            <a:endParaRPr lang="en-US" sz="1700" dirty="0"/>
          </a:p>
        </p:txBody>
      </p:sp>
      <p:sp>
        <p:nvSpPr>
          <p:cNvPr id="20" name="Text 15"/>
          <p:cNvSpPr txBox="1"/>
          <p:nvPr/>
        </p:nvSpPr>
        <p:spPr>
          <a:xfrm>
            <a:off x="8371637" y="3154680"/>
            <a:ext cx="2905658" cy="128016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Du får vite hva som testes og hva som kommer – før det treffer dine bygg og brukere.</a:t>
            </a:r>
            <a:endParaRPr lang="en-US" sz="1350" dirty="0"/>
          </a:p>
        </p:txBody>
      </p:sp>
      <p:sp>
        <p:nvSpPr>
          <p:cNvPr id="21" name="Text 16"/>
          <p:cNvSpPr txBox="1"/>
          <p:nvPr/>
        </p:nvSpPr>
        <p:spPr>
          <a:xfrm>
            <a:off x="640080" y="4937760"/>
            <a:ext cx="10911535" cy="457200"/>
          </a:xfrm>
          <a:prstGeom prst="rect">
            <a:avLst/>
          </a:prstGeom>
          <a:noFill/>
          <a:ln/>
        </p:spPr>
        <p:txBody>
          <a:bodyPr wrap="square" lIns="0" tIns="0" rIns="0" bIns="0" rtlCol="0" anchor="ctr"/>
          <a:lstStyle/>
          <a:p>
            <a:pPr indent="0" marL="0">
              <a:buNone/>
            </a:pPr>
            <a:r>
              <a:rPr lang="en-US" sz="1800" dirty="0">
                <a:solidFill>
                  <a:srgbClr val="14283C"/>
                </a:solidFill>
                <a:latin typeface="Cambria" pitchFamily="34" charset="0"/>
                <a:ea typeface="Cambria" pitchFamily="34" charset="-122"/>
                <a:cs typeface="Cambria" pitchFamily="34" charset="-120"/>
              </a:rPr>
              <a:t>Kort sagt: mindre alenearbeid, mer felles læring.</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Hva ville du meldt inn i dag?</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AKTIVITET · 4 MIN</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15 / 18</a:t>
            </a:r>
            <a:endParaRPr lang="en-US" sz="900" dirty="0"/>
          </a:p>
        </p:txBody>
      </p:sp>
      <p:sp>
        <p:nvSpPr>
          <p:cNvPr id="6" name="Shape 4"/>
          <p:cNvSpPr/>
          <p:nvPr/>
        </p:nvSpPr>
        <p:spPr>
          <a:xfrm>
            <a:off x="640080" y="1463040"/>
            <a:ext cx="6583680" cy="4114800"/>
          </a:xfrm>
          <a:prstGeom prst="roundRect">
            <a:avLst>
              <a:gd name="adj" fmla="val 2667"/>
            </a:avLst>
          </a:prstGeom>
          <a:solidFill>
            <a:srgbClr val="EAF0F5"/>
          </a:solidFill>
          <a:ln w="12700">
            <a:solidFill>
              <a:srgbClr val="EAF0F5"/>
            </a:solidFill>
            <a:prstDash val="solid"/>
          </a:ln>
        </p:spPr>
      </p:sp>
      <p:sp>
        <p:nvSpPr>
          <p:cNvPr id="7" name="Text 5"/>
          <p:cNvSpPr txBox="1"/>
          <p:nvPr/>
        </p:nvSpPr>
        <p:spPr>
          <a:xfrm>
            <a:off x="1005840" y="1691640"/>
            <a:ext cx="5486400" cy="365760"/>
          </a:xfrm>
          <a:prstGeom prst="rect">
            <a:avLst/>
          </a:prstGeom>
          <a:noFill/>
          <a:ln/>
        </p:spPr>
        <p:txBody>
          <a:bodyPr wrap="square" lIns="0" tIns="0" rIns="0" bIns="0" rtlCol="0" anchor="ctr"/>
          <a:lstStyle/>
          <a:p>
            <a:pPr indent="0" marL="0">
              <a:buNone/>
            </a:pPr>
            <a:r>
              <a:rPr lang="en-US" sz="1200" b="1" spc="100" kern="0" dirty="0">
                <a:solidFill>
                  <a:srgbClr val="3F6E93"/>
                </a:solidFill>
                <a:latin typeface="Calibri" pitchFamily="34" charset="0"/>
                <a:ea typeface="Calibri" pitchFamily="34" charset="-122"/>
                <a:cs typeface="Calibri" pitchFamily="34" charset="-120"/>
              </a:rPr>
              <a:t>I grupper på 3–4:</a:t>
            </a:r>
            <a:endParaRPr lang="en-US" sz="1200" dirty="0"/>
          </a:p>
        </p:txBody>
      </p:sp>
      <p:sp>
        <p:nvSpPr>
          <p:cNvPr id="8" name="Text 6"/>
          <p:cNvSpPr txBox="1"/>
          <p:nvPr/>
        </p:nvSpPr>
        <p:spPr>
          <a:xfrm>
            <a:off x="1005840" y="2148840"/>
            <a:ext cx="5852160" cy="320040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Velg ett behov fra tenk–par–del i sted – eller et nytt.</a:t>
            </a:r>
            <a:endParaRPr lang="en-US" sz="1600" dirty="0"/>
          </a:p>
          <a:p>
            <a:pPr marL="177800" indent="-1778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Formuler det på én linje: «Vi trenger … fordi …».</a:t>
            </a:r>
            <a:endParaRPr lang="en-US" sz="1600" dirty="0"/>
          </a:p>
          <a:p>
            <a:pPr marL="177800" indent="-1778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Hvor mange lokasjoner tror dere det gjelder?</a:t>
            </a:r>
            <a:endParaRPr lang="en-US" sz="1600" dirty="0"/>
          </a:p>
          <a:p>
            <a:pPr marL="177800" indent="-1778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Én person deler høyt. Vi noterer alt.</a:t>
            </a:r>
            <a:endParaRPr lang="en-US" sz="1600" dirty="0"/>
          </a:p>
        </p:txBody>
      </p:sp>
      <p:sp>
        <p:nvSpPr>
          <p:cNvPr id="9" name="Shape 7"/>
          <p:cNvSpPr/>
          <p:nvPr/>
        </p:nvSpPr>
        <p:spPr>
          <a:xfrm>
            <a:off x="7589520" y="1463040"/>
            <a:ext cx="3962095" cy="4114800"/>
          </a:xfrm>
          <a:prstGeom prst="roundRect">
            <a:avLst>
              <a:gd name="adj" fmla="val 2769"/>
            </a:avLst>
          </a:prstGeom>
          <a:solidFill>
            <a:srgbClr val="14283C"/>
          </a:solidFill>
          <a:ln w="12700">
            <a:solidFill>
              <a:srgbClr val="14283C"/>
            </a:solidFill>
            <a:prstDash val="solid"/>
          </a:ln>
        </p:spPr>
      </p:sp>
      <p:sp>
        <p:nvSpPr>
          <p:cNvPr id="10" name="Text 8"/>
          <p:cNvSpPr txBox="1"/>
          <p:nvPr/>
        </p:nvSpPr>
        <p:spPr>
          <a:xfrm>
            <a:off x="7909560" y="1691640"/>
            <a:ext cx="2743200" cy="320040"/>
          </a:xfrm>
          <a:prstGeom prst="rect">
            <a:avLst/>
          </a:prstGeom>
          <a:noFill/>
          <a:ln/>
        </p:spPr>
        <p:txBody>
          <a:bodyPr wrap="square" lIns="0" tIns="0" rIns="0" bIns="0" rtlCol="0" anchor="ctr"/>
          <a:lstStyle/>
          <a:p>
            <a:pPr indent="0" marL="0">
              <a:buNone/>
            </a:pPr>
            <a:r>
              <a:rPr lang="en-US" sz="1100" b="1" spc="200" kern="0" dirty="0">
                <a:solidFill>
                  <a:srgbClr val="E0A526"/>
                </a:solidFill>
                <a:latin typeface="Calibri" pitchFamily="34" charset="0"/>
                <a:ea typeface="Calibri" pitchFamily="34" charset="-122"/>
                <a:cs typeface="Calibri" pitchFamily="34" charset="-120"/>
              </a:rPr>
              <a:t>MAL</a:t>
            </a:r>
            <a:endParaRPr lang="en-US" sz="1100" dirty="0"/>
          </a:p>
        </p:txBody>
      </p:sp>
      <p:sp>
        <p:nvSpPr>
          <p:cNvPr id="11" name="Text 9"/>
          <p:cNvSpPr txBox="1"/>
          <p:nvPr/>
        </p:nvSpPr>
        <p:spPr>
          <a:xfrm>
            <a:off x="7909560" y="2148840"/>
            <a:ext cx="3322015" cy="3200400"/>
          </a:xfrm>
          <a:prstGeom prst="rect">
            <a:avLst/>
          </a:prstGeom>
          <a:noFill/>
          <a:ln/>
        </p:spPr>
        <p:txBody>
          <a:bodyPr wrap="square" lIns="0" tIns="0" rIns="0" bIns="0" rtlCol="0" anchor="t"/>
          <a:lstStyle/>
          <a:p>
            <a:pPr indent="0" marL="0">
              <a:lnSpc>
                <a:spcPct val="120000"/>
              </a:lnSpc>
              <a:buNone/>
            </a:pPr>
            <a:r>
              <a:rPr lang="en-US" sz="2000" dirty="0">
                <a:solidFill>
                  <a:srgbClr val="FFFFFF"/>
                </a:solidFill>
                <a:latin typeface="Cambria" pitchFamily="34" charset="0"/>
                <a:ea typeface="Cambria" pitchFamily="34" charset="-122"/>
                <a:cs typeface="Cambria" pitchFamily="34" charset="-120"/>
              </a:rPr>
              <a:t>«Vi trenger ______</a:t>
            </a:r>
            <a:endParaRPr lang="en-US" sz="2000" dirty="0"/>
          </a:p>
          <a:p>
            <a:pPr indent="0" marL="0">
              <a:lnSpc>
                <a:spcPct val="120000"/>
              </a:lnSpc>
              <a:buNone/>
            </a:pPr>
            <a:endParaRPr lang="en-US" sz="2000" dirty="0"/>
          </a:p>
          <a:p>
            <a:pPr indent="0" marL="0">
              <a:lnSpc>
                <a:spcPct val="120000"/>
              </a:lnSpc>
              <a:buNone/>
            </a:pPr>
            <a:r>
              <a:rPr lang="en-US" sz="2000" dirty="0">
                <a:solidFill>
                  <a:srgbClr val="FFFFFF"/>
                </a:solidFill>
                <a:latin typeface="Cambria" pitchFamily="34" charset="0"/>
                <a:ea typeface="Cambria" pitchFamily="34" charset="-122"/>
                <a:cs typeface="Cambria" pitchFamily="34" charset="-120"/>
              </a:rPr>
              <a:t>fordi ______.</a:t>
            </a:r>
            <a:endParaRPr lang="en-US" sz="2000" dirty="0"/>
          </a:p>
          <a:p>
            <a:pPr indent="0" marL="0">
              <a:lnSpc>
                <a:spcPct val="120000"/>
              </a:lnSpc>
              <a:buNone/>
            </a:pPr>
            <a:endParaRPr lang="en-US" sz="2000" dirty="0"/>
          </a:p>
          <a:p>
            <a:pPr indent="0" marL="0">
              <a:lnSpc>
                <a:spcPct val="120000"/>
              </a:lnSpc>
              <a:buNone/>
            </a:pPr>
            <a:r>
              <a:rPr lang="en-US" sz="2000" dirty="0">
                <a:solidFill>
                  <a:srgbClr val="FFFFFF"/>
                </a:solidFill>
                <a:latin typeface="Cambria" pitchFamily="34" charset="0"/>
                <a:ea typeface="Cambria" pitchFamily="34" charset="-122"/>
                <a:cs typeface="Cambria" pitchFamily="34" charset="-120"/>
              </a:rPr>
              <a:t>Det gjelder ca. ___ lokasjoner.»</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Slik kan du bidra</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VEIEN VIDERE</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16 / 18</a:t>
            </a:r>
            <a:endParaRPr lang="en-US" sz="900" dirty="0"/>
          </a:p>
        </p:txBody>
      </p:sp>
      <p:sp>
        <p:nvSpPr>
          <p:cNvPr id="6" name="Shape 4"/>
          <p:cNvSpPr/>
          <p:nvPr/>
        </p:nvSpPr>
        <p:spPr>
          <a:xfrm>
            <a:off x="640080" y="1463040"/>
            <a:ext cx="3454298" cy="2377440"/>
          </a:xfrm>
          <a:prstGeom prst="roundRect">
            <a:avLst>
              <a:gd name="adj" fmla="val 4615"/>
            </a:avLst>
          </a:prstGeom>
          <a:solidFill>
            <a:srgbClr val="F4F7FA"/>
          </a:solidFill>
          <a:ln w="12700">
            <a:solidFill>
              <a:srgbClr val="F4F7FA"/>
            </a:solidFill>
            <a:prstDash val="solid"/>
          </a:ln>
        </p:spPr>
      </p:sp>
      <p:sp>
        <p:nvSpPr>
          <p:cNvPr id="7" name="Shape 5"/>
          <p:cNvSpPr/>
          <p:nvPr/>
        </p:nvSpPr>
        <p:spPr>
          <a:xfrm>
            <a:off x="914400" y="1737360"/>
            <a:ext cx="640080" cy="640080"/>
          </a:xfrm>
          <a:prstGeom prst="ellipse">
            <a:avLst/>
          </a:prstGeom>
          <a:solidFill>
            <a:srgbClr val="14283C"/>
          </a:solidFill>
          <a:ln w="12700">
            <a:solidFill>
              <a:srgbClr val="14283C"/>
            </a:solidFill>
            <a:prstDash val="solid"/>
          </a:ln>
        </p:spPr>
      </p:sp>
      <p:pic>
        <p:nvPicPr>
          <p:cNvPr id="8" name="Image 0" descr="preencoded.png">    </p:cNvPr>
          <p:cNvPicPr>
            <a:picLocks noChangeAspect="1"/>
          </p:cNvPicPr>
          <p:nvPr/>
        </p:nvPicPr>
        <p:blipFill>
          <a:blip r:embed="rId1"/>
          <a:stretch>
            <a:fillRect/>
          </a:stretch>
        </p:blipFill>
        <p:spPr>
          <a:xfrm>
            <a:off x="1074420" y="1897380"/>
            <a:ext cx="320040" cy="320040"/>
          </a:xfrm>
          <a:prstGeom prst="rect">
            <a:avLst/>
          </a:prstGeom>
        </p:spPr>
      </p:pic>
      <p:sp>
        <p:nvSpPr>
          <p:cNvPr id="9" name="Text 6"/>
          <p:cNvSpPr txBox="1"/>
          <p:nvPr/>
        </p:nvSpPr>
        <p:spPr>
          <a:xfrm>
            <a:off x="914400" y="2514600"/>
            <a:ext cx="2905658" cy="502920"/>
          </a:xfrm>
          <a:prstGeom prst="rect">
            <a:avLst/>
          </a:prstGeom>
          <a:noFill/>
          <a:ln/>
        </p:spPr>
        <p:txBody>
          <a:bodyPr wrap="square" lIns="0" tIns="0" rIns="0" bIns="0" rtlCol="0" anchor="t"/>
          <a:lstStyle/>
          <a:p>
            <a:pPr indent="0" marL="0">
              <a:buNone/>
            </a:pPr>
            <a:r>
              <a:rPr lang="en-US" sz="1600" b="1" dirty="0">
                <a:solidFill>
                  <a:srgbClr val="14283C"/>
                </a:solidFill>
                <a:latin typeface="Cambria" pitchFamily="34" charset="0"/>
                <a:ea typeface="Cambria" pitchFamily="34" charset="-122"/>
                <a:cs typeface="Cambria" pitchFamily="34" charset="-120"/>
              </a:rPr>
              <a:t>Meld inn et behov</a:t>
            </a:r>
            <a:endParaRPr lang="en-US" sz="1600" dirty="0"/>
          </a:p>
        </p:txBody>
      </p:sp>
      <p:sp>
        <p:nvSpPr>
          <p:cNvPr id="10" name="Text 7"/>
          <p:cNvSpPr txBox="1"/>
          <p:nvPr/>
        </p:nvSpPr>
        <p:spPr>
          <a:xfrm>
            <a:off x="914400" y="3063240"/>
            <a:ext cx="2905658" cy="548640"/>
          </a:xfrm>
          <a:prstGeom prst="rect">
            <a:avLst/>
          </a:prstGeom>
          <a:noFill/>
          <a:ln/>
        </p:spPr>
        <p:txBody>
          <a:bodyPr wrap="square" lIns="0" tIns="0" rIns="0" bIns="0" rtlCol="0" anchor="t"/>
          <a:lstStyle/>
          <a:p>
            <a:pPr indent="0" marL="0">
              <a:buNone/>
            </a:pPr>
            <a:r>
              <a:rPr lang="en-US" sz="1300" i="1" dirty="0">
                <a:solidFill>
                  <a:srgbClr val="3F6E93"/>
                </a:solidFill>
                <a:latin typeface="Calibri" pitchFamily="34" charset="0"/>
                <a:ea typeface="Calibri" pitchFamily="34" charset="-122"/>
                <a:cs typeface="Calibri" pitchFamily="34" charset="-120"/>
              </a:rPr>
              <a:t>[kanal: e-post / skjema / Teams-kanal]</a:t>
            </a:r>
            <a:endParaRPr lang="en-US" sz="1300" dirty="0"/>
          </a:p>
        </p:txBody>
      </p:sp>
      <p:sp>
        <p:nvSpPr>
          <p:cNvPr id="11" name="Shape 8"/>
          <p:cNvSpPr/>
          <p:nvPr/>
        </p:nvSpPr>
        <p:spPr>
          <a:xfrm>
            <a:off x="4368698" y="1463040"/>
            <a:ext cx="3454298" cy="2377440"/>
          </a:xfrm>
          <a:prstGeom prst="roundRect">
            <a:avLst>
              <a:gd name="adj" fmla="val 4615"/>
            </a:avLst>
          </a:prstGeom>
          <a:solidFill>
            <a:srgbClr val="F4F7FA"/>
          </a:solidFill>
          <a:ln w="12700">
            <a:solidFill>
              <a:srgbClr val="F4F7FA"/>
            </a:solidFill>
            <a:prstDash val="solid"/>
          </a:ln>
        </p:spPr>
      </p:sp>
      <p:sp>
        <p:nvSpPr>
          <p:cNvPr id="12" name="Shape 9"/>
          <p:cNvSpPr/>
          <p:nvPr/>
        </p:nvSpPr>
        <p:spPr>
          <a:xfrm>
            <a:off x="4643018" y="1737360"/>
            <a:ext cx="640080" cy="640080"/>
          </a:xfrm>
          <a:prstGeom prst="ellipse">
            <a:avLst/>
          </a:prstGeom>
          <a:solidFill>
            <a:srgbClr val="14283C"/>
          </a:solidFill>
          <a:ln w="12700">
            <a:solidFill>
              <a:srgbClr val="14283C"/>
            </a:solidFill>
            <a:prstDash val="solid"/>
          </a:ln>
        </p:spPr>
      </p:sp>
      <p:pic>
        <p:nvPicPr>
          <p:cNvPr id="13" name="Image 1" descr="preencoded.png">    </p:cNvPr>
          <p:cNvPicPr>
            <a:picLocks noChangeAspect="1"/>
          </p:cNvPicPr>
          <p:nvPr/>
        </p:nvPicPr>
        <p:blipFill>
          <a:blip r:embed="rId2"/>
          <a:stretch>
            <a:fillRect/>
          </a:stretch>
        </p:blipFill>
        <p:spPr>
          <a:xfrm>
            <a:off x="4803038" y="1897380"/>
            <a:ext cx="320040" cy="320040"/>
          </a:xfrm>
          <a:prstGeom prst="rect">
            <a:avLst/>
          </a:prstGeom>
        </p:spPr>
      </p:pic>
      <p:sp>
        <p:nvSpPr>
          <p:cNvPr id="14" name="Text 10"/>
          <p:cNvSpPr txBox="1"/>
          <p:nvPr/>
        </p:nvSpPr>
        <p:spPr>
          <a:xfrm>
            <a:off x="4643018" y="2514600"/>
            <a:ext cx="2905658" cy="502920"/>
          </a:xfrm>
          <a:prstGeom prst="rect">
            <a:avLst/>
          </a:prstGeom>
          <a:noFill/>
          <a:ln/>
        </p:spPr>
        <p:txBody>
          <a:bodyPr wrap="square" lIns="0" tIns="0" rIns="0" bIns="0" rtlCol="0" anchor="t"/>
          <a:lstStyle/>
          <a:p>
            <a:pPr indent="0" marL="0">
              <a:buNone/>
            </a:pPr>
            <a:r>
              <a:rPr lang="en-US" sz="1600" b="1" dirty="0">
                <a:solidFill>
                  <a:srgbClr val="14283C"/>
                </a:solidFill>
                <a:latin typeface="Cambria" pitchFamily="34" charset="0"/>
                <a:ea typeface="Cambria" pitchFamily="34" charset="-122"/>
                <a:cs typeface="Cambria" pitchFamily="34" charset="-120"/>
              </a:rPr>
              <a:t>Tilby ditt bygg som pilot</a:t>
            </a:r>
            <a:endParaRPr lang="en-US" sz="1600" dirty="0"/>
          </a:p>
        </p:txBody>
      </p:sp>
      <p:sp>
        <p:nvSpPr>
          <p:cNvPr id="15" name="Text 11"/>
          <p:cNvSpPr txBox="1"/>
          <p:nvPr/>
        </p:nvSpPr>
        <p:spPr>
          <a:xfrm>
            <a:off x="4643018" y="3063240"/>
            <a:ext cx="2905658" cy="5486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Vi trenger ekte lokaler og ekte brukere. Si fra hvis du vil være tidlig ute.</a:t>
            </a:r>
            <a:endParaRPr lang="en-US" sz="1300" dirty="0"/>
          </a:p>
        </p:txBody>
      </p:sp>
      <p:sp>
        <p:nvSpPr>
          <p:cNvPr id="16" name="Shape 12"/>
          <p:cNvSpPr/>
          <p:nvPr/>
        </p:nvSpPr>
        <p:spPr>
          <a:xfrm>
            <a:off x="8097317" y="1463040"/>
            <a:ext cx="3454298" cy="2377440"/>
          </a:xfrm>
          <a:prstGeom prst="roundRect">
            <a:avLst>
              <a:gd name="adj" fmla="val 4615"/>
            </a:avLst>
          </a:prstGeom>
          <a:solidFill>
            <a:srgbClr val="F4F7FA"/>
          </a:solidFill>
          <a:ln w="12700">
            <a:solidFill>
              <a:srgbClr val="F4F7FA"/>
            </a:solidFill>
            <a:prstDash val="solid"/>
          </a:ln>
        </p:spPr>
      </p:sp>
      <p:sp>
        <p:nvSpPr>
          <p:cNvPr id="17" name="Shape 13"/>
          <p:cNvSpPr/>
          <p:nvPr/>
        </p:nvSpPr>
        <p:spPr>
          <a:xfrm>
            <a:off x="8371637" y="1737360"/>
            <a:ext cx="640080" cy="640080"/>
          </a:xfrm>
          <a:prstGeom prst="ellipse">
            <a:avLst/>
          </a:prstGeom>
          <a:solidFill>
            <a:srgbClr val="14283C"/>
          </a:solidFill>
          <a:ln w="12700">
            <a:solidFill>
              <a:srgbClr val="14283C"/>
            </a:solidFill>
            <a:prstDash val="solid"/>
          </a:ln>
        </p:spPr>
      </p:sp>
      <p:pic>
        <p:nvPicPr>
          <p:cNvPr id="18" name="Image 2" descr="preencoded.png">    </p:cNvPr>
          <p:cNvPicPr>
            <a:picLocks noChangeAspect="1"/>
          </p:cNvPicPr>
          <p:nvPr/>
        </p:nvPicPr>
        <p:blipFill>
          <a:blip r:embed="rId3"/>
          <a:stretch>
            <a:fillRect/>
          </a:stretch>
        </p:blipFill>
        <p:spPr>
          <a:xfrm>
            <a:off x="8531657" y="1897380"/>
            <a:ext cx="320040" cy="320040"/>
          </a:xfrm>
          <a:prstGeom prst="rect">
            <a:avLst/>
          </a:prstGeom>
        </p:spPr>
      </p:pic>
      <p:sp>
        <p:nvSpPr>
          <p:cNvPr id="19" name="Text 14"/>
          <p:cNvSpPr txBox="1"/>
          <p:nvPr/>
        </p:nvSpPr>
        <p:spPr>
          <a:xfrm>
            <a:off x="8371637" y="2514600"/>
            <a:ext cx="2905658" cy="502920"/>
          </a:xfrm>
          <a:prstGeom prst="rect">
            <a:avLst/>
          </a:prstGeom>
          <a:noFill/>
          <a:ln/>
        </p:spPr>
        <p:txBody>
          <a:bodyPr wrap="square" lIns="0" tIns="0" rIns="0" bIns="0" rtlCol="0" anchor="t"/>
          <a:lstStyle/>
          <a:p>
            <a:pPr indent="0" marL="0">
              <a:buNone/>
            </a:pPr>
            <a:r>
              <a:rPr lang="en-US" sz="1600" b="1" dirty="0">
                <a:solidFill>
                  <a:srgbClr val="14283C"/>
                </a:solidFill>
                <a:latin typeface="Cambria" pitchFamily="34" charset="0"/>
                <a:ea typeface="Cambria" pitchFamily="34" charset="-122"/>
                <a:cs typeface="Cambria" pitchFamily="34" charset="-120"/>
              </a:rPr>
              <a:t>Bruk det som finnes</a:t>
            </a:r>
            <a:endParaRPr lang="en-US" sz="1600" dirty="0"/>
          </a:p>
        </p:txBody>
      </p:sp>
      <p:sp>
        <p:nvSpPr>
          <p:cNvPr id="20" name="Text 15"/>
          <p:cNvSpPr txBox="1"/>
          <p:nvPr/>
        </p:nvSpPr>
        <p:spPr>
          <a:xfrm>
            <a:off x="8371637" y="3063240"/>
            <a:ext cx="2905658" cy="548640"/>
          </a:xfrm>
          <a:prstGeom prst="rect">
            <a:avLst/>
          </a:prstGeom>
          <a:noFill/>
          <a:ln/>
        </p:spPr>
        <p:txBody>
          <a:bodyPr wrap="square" lIns="0" tIns="0" rIns="0" bIns="0" rtlCol="0" anchor="t"/>
          <a:lstStyle/>
          <a:p>
            <a:pPr indent="0" marL="0">
              <a:buNone/>
            </a:pPr>
            <a:r>
              <a:rPr lang="en-US" sz="1300" i="1" dirty="0">
                <a:solidFill>
                  <a:srgbClr val="3F6E93"/>
                </a:solidFill>
                <a:latin typeface="Calibri" pitchFamily="34" charset="0"/>
                <a:ea typeface="Calibri" pitchFamily="34" charset="-122"/>
                <a:cs typeface="Calibri" pitchFamily="34" charset="-120"/>
              </a:rPr>
              <a:t>[lenke til veiledere / standarder / intranett]</a:t>
            </a:r>
            <a:endParaRPr lang="en-US" sz="1300" dirty="0"/>
          </a:p>
        </p:txBody>
      </p:sp>
      <p:sp>
        <p:nvSpPr>
          <p:cNvPr id="21" name="Shape 16"/>
          <p:cNvSpPr/>
          <p:nvPr/>
        </p:nvSpPr>
        <p:spPr>
          <a:xfrm>
            <a:off x="1005840" y="4892040"/>
            <a:ext cx="10180015" cy="0"/>
          </a:xfrm>
          <a:prstGeom prst="line">
            <a:avLst/>
          </a:prstGeom>
          <a:noFill/>
          <a:ln w="25400">
            <a:solidFill>
              <a:srgbClr val="3F6E93"/>
            </a:solidFill>
            <a:prstDash val="solid"/>
          </a:ln>
        </p:spPr>
      </p:sp>
      <p:sp>
        <p:nvSpPr>
          <p:cNvPr id="22" name="Shape 17"/>
          <p:cNvSpPr/>
          <p:nvPr/>
        </p:nvSpPr>
        <p:spPr>
          <a:xfrm>
            <a:off x="905256" y="4791456"/>
            <a:ext cx="201168" cy="201168"/>
          </a:xfrm>
          <a:prstGeom prst="ellipse">
            <a:avLst/>
          </a:prstGeom>
          <a:solidFill>
            <a:srgbClr val="E0A526"/>
          </a:solidFill>
          <a:ln w="12700">
            <a:solidFill>
              <a:srgbClr val="E0A526"/>
            </a:solidFill>
            <a:prstDash val="solid"/>
          </a:ln>
        </p:spPr>
      </p:sp>
      <p:sp>
        <p:nvSpPr>
          <p:cNvPr id="23" name="Text 18"/>
          <p:cNvSpPr txBox="1"/>
          <p:nvPr/>
        </p:nvSpPr>
        <p:spPr>
          <a:xfrm>
            <a:off x="-182880" y="5120640"/>
            <a:ext cx="2377440" cy="457200"/>
          </a:xfrm>
          <a:prstGeom prst="rect">
            <a:avLst/>
          </a:prstGeom>
          <a:noFill/>
          <a:ln/>
        </p:spPr>
        <p:txBody>
          <a:bodyPr wrap="square" lIns="0" tIns="0" rIns="0" bIns="0" rtlCol="0" anchor="ctr"/>
          <a:lstStyle/>
          <a:p>
            <a:pPr algn="ctr" indent="0" marL="0">
              <a:buNone/>
            </a:pPr>
            <a:r>
              <a:rPr lang="en-US" sz="1200" i="1" dirty="0">
                <a:solidFill>
                  <a:srgbClr val="3F6E93"/>
                </a:solidFill>
                <a:latin typeface="Calibri" pitchFamily="34" charset="0"/>
                <a:ea typeface="Calibri" pitchFamily="34" charset="-122"/>
                <a:cs typeface="Calibri" pitchFamily="34" charset="-120"/>
              </a:rPr>
              <a:t>[Måned: milepæl]</a:t>
            </a:r>
            <a:endParaRPr lang="en-US" sz="1200" dirty="0"/>
          </a:p>
        </p:txBody>
      </p:sp>
      <p:sp>
        <p:nvSpPr>
          <p:cNvPr id="24" name="Shape 19"/>
          <p:cNvSpPr/>
          <p:nvPr/>
        </p:nvSpPr>
        <p:spPr>
          <a:xfrm>
            <a:off x="4298594" y="4791456"/>
            <a:ext cx="201168" cy="201168"/>
          </a:xfrm>
          <a:prstGeom prst="ellipse">
            <a:avLst/>
          </a:prstGeom>
          <a:solidFill>
            <a:srgbClr val="E0A526"/>
          </a:solidFill>
          <a:ln w="12700">
            <a:solidFill>
              <a:srgbClr val="E0A526"/>
            </a:solidFill>
            <a:prstDash val="solid"/>
          </a:ln>
        </p:spPr>
      </p:sp>
      <p:sp>
        <p:nvSpPr>
          <p:cNvPr id="25" name="Text 20"/>
          <p:cNvSpPr txBox="1"/>
          <p:nvPr/>
        </p:nvSpPr>
        <p:spPr>
          <a:xfrm>
            <a:off x="3210458" y="5120640"/>
            <a:ext cx="2377440" cy="457200"/>
          </a:xfrm>
          <a:prstGeom prst="rect">
            <a:avLst/>
          </a:prstGeom>
          <a:noFill/>
          <a:ln/>
        </p:spPr>
        <p:txBody>
          <a:bodyPr wrap="square" lIns="0" tIns="0" rIns="0" bIns="0" rtlCol="0" anchor="ctr"/>
          <a:lstStyle/>
          <a:p>
            <a:pPr algn="ctr" indent="0" marL="0">
              <a:buNone/>
            </a:pPr>
            <a:r>
              <a:rPr lang="en-US" sz="1200" i="1" dirty="0">
                <a:solidFill>
                  <a:srgbClr val="3F6E93"/>
                </a:solidFill>
                <a:latin typeface="Calibri" pitchFamily="34" charset="0"/>
                <a:ea typeface="Calibri" pitchFamily="34" charset="-122"/>
                <a:cs typeface="Calibri" pitchFamily="34" charset="-120"/>
              </a:rPr>
              <a:t>[Måned: milepæl]</a:t>
            </a:r>
            <a:endParaRPr lang="en-US" sz="1200" dirty="0"/>
          </a:p>
        </p:txBody>
      </p:sp>
      <p:sp>
        <p:nvSpPr>
          <p:cNvPr id="26" name="Shape 21"/>
          <p:cNvSpPr/>
          <p:nvPr/>
        </p:nvSpPr>
        <p:spPr>
          <a:xfrm>
            <a:off x="7691933" y="4791456"/>
            <a:ext cx="201168" cy="201168"/>
          </a:xfrm>
          <a:prstGeom prst="ellipse">
            <a:avLst/>
          </a:prstGeom>
          <a:solidFill>
            <a:srgbClr val="E0A526"/>
          </a:solidFill>
          <a:ln w="12700">
            <a:solidFill>
              <a:srgbClr val="E0A526"/>
            </a:solidFill>
            <a:prstDash val="solid"/>
          </a:ln>
        </p:spPr>
      </p:sp>
      <p:sp>
        <p:nvSpPr>
          <p:cNvPr id="27" name="Text 22"/>
          <p:cNvSpPr txBox="1"/>
          <p:nvPr/>
        </p:nvSpPr>
        <p:spPr>
          <a:xfrm>
            <a:off x="6603797" y="5120640"/>
            <a:ext cx="2377440" cy="457200"/>
          </a:xfrm>
          <a:prstGeom prst="rect">
            <a:avLst/>
          </a:prstGeom>
          <a:noFill/>
          <a:ln/>
        </p:spPr>
        <p:txBody>
          <a:bodyPr wrap="square" lIns="0" tIns="0" rIns="0" bIns="0" rtlCol="0" anchor="ctr"/>
          <a:lstStyle/>
          <a:p>
            <a:pPr algn="ctr" indent="0" marL="0">
              <a:buNone/>
            </a:pPr>
            <a:r>
              <a:rPr lang="en-US" sz="1200" i="1" dirty="0">
                <a:solidFill>
                  <a:srgbClr val="3F6E93"/>
                </a:solidFill>
                <a:latin typeface="Calibri" pitchFamily="34" charset="0"/>
                <a:ea typeface="Calibri" pitchFamily="34" charset="-122"/>
                <a:cs typeface="Calibri" pitchFamily="34" charset="-120"/>
              </a:rPr>
              <a:t>[Måned: milepæl]</a:t>
            </a:r>
            <a:endParaRPr lang="en-US" sz="1200" dirty="0"/>
          </a:p>
        </p:txBody>
      </p:sp>
      <p:sp>
        <p:nvSpPr>
          <p:cNvPr id="28" name="Shape 23"/>
          <p:cNvSpPr/>
          <p:nvPr/>
        </p:nvSpPr>
        <p:spPr>
          <a:xfrm>
            <a:off x="11085271" y="4791456"/>
            <a:ext cx="201168" cy="201168"/>
          </a:xfrm>
          <a:prstGeom prst="ellipse">
            <a:avLst/>
          </a:prstGeom>
          <a:solidFill>
            <a:srgbClr val="E0A526"/>
          </a:solidFill>
          <a:ln w="12700">
            <a:solidFill>
              <a:srgbClr val="E0A526"/>
            </a:solidFill>
            <a:prstDash val="solid"/>
          </a:ln>
        </p:spPr>
      </p:sp>
      <p:sp>
        <p:nvSpPr>
          <p:cNvPr id="29" name="Text 24"/>
          <p:cNvSpPr txBox="1"/>
          <p:nvPr/>
        </p:nvSpPr>
        <p:spPr>
          <a:xfrm>
            <a:off x="9997135" y="5120640"/>
            <a:ext cx="2377440" cy="457200"/>
          </a:xfrm>
          <a:prstGeom prst="rect">
            <a:avLst/>
          </a:prstGeom>
          <a:noFill/>
          <a:ln/>
        </p:spPr>
        <p:txBody>
          <a:bodyPr wrap="square" lIns="0" tIns="0" rIns="0" bIns="0" rtlCol="0" anchor="ctr"/>
          <a:lstStyle/>
          <a:p>
            <a:pPr algn="ctr" indent="0" marL="0">
              <a:buNone/>
            </a:pPr>
            <a:r>
              <a:rPr lang="en-US" sz="1200" i="1" dirty="0">
                <a:solidFill>
                  <a:srgbClr val="3F6E93"/>
                </a:solidFill>
                <a:latin typeface="Calibri" pitchFamily="34" charset="0"/>
                <a:ea typeface="Calibri" pitchFamily="34" charset="-122"/>
                <a:cs typeface="Calibri" pitchFamily="34" charset="-120"/>
              </a:rPr>
              <a:t>[Måned: milepæl]</a:t>
            </a:r>
            <a:endParaRPr lang="en-US" sz="1200" dirty="0"/>
          </a:p>
        </p:txBody>
      </p:sp>
      <p:sp>
        <p:nvSpPr>
          <p:cNvPr id="30" name="Text 25"/>
          <p:cNvSpPr txBox="1"/>
          <p:nvPr/>
        </p:nvSpPr>
        <p:spPr>
          <a:xfrm>
            <a:off x="640080" y="4160520"/>
            <a:ext cx="3657600" cy="274320"/>
          </a:xfrm>
          <a:prstGeom prst="rect">
            <a:avLst/>
          </a:prstGeom>
          <a:noFill/>
          <a:ln/>
        </p:spPr>
        <p:txBody>
          <a:bodyPr wrap="square" lIns="0" tIns="0" rIns="0" bIns="0" rtlCol="0" anchor="ctr"/>
          <a:lstStyle/>
          <a:p>
            <a:pPr indent="0" marL="0">
              <a:buNone/>
            </a:pPr>
            <a:r>
              <a:rPr lang="en-US" sz="1000" b="1" spc="200" kern="0" dirty="0">
                <a:solidFill>
                  <a:srgbClr val="3F6E93"/>
                </a:solidFill>
                <a:latin typeface="Calibri" pitchFamily="34" charset="0"/>
                <a:ea typeface="Calibri" pitchFamily="34" charset="-122"/>
                <a:cs typeface="Calibri" pitchFamily="34" charset="-120"/>
              </a:rPr>
              <a:t>DE NESTE 6 MÅNEDENE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457200"/>
            <a:ext cx="8534095" cy="822960"/>
          </a:xfrm>
          <a:prstGeom prst="rect">
            <a:avLst/>
          </a:prstGeom>
          <a:noFill/>
          <a:ln/>
        </p:spPr>
        <p:txBody>
          <a:bodyPr wrap="square" lIns="0" tIns="0" rIns="0" bIns="0" rtlCol="0" anchor="ctr"/>
          <a:lstStyle/>
          <a:p>
            <a:pPr indent="0" marL="0">
              <a:buNone/>
            </a:pPr>
            <a:r>
              <a:rPr lang="en-US" sz="3200" b="1" dirty="0">
                <a:solidFill>
                  <a:srgbClr val="14283C"/>
                </a:solidFill>
                <a:latin typeface="Cambria" pitchFamily="34" charset="0"/>
                <a:ea typeface="Cambria" pitchFamily="34" charset="-122"/>
                <a:cs typeface="Cambria" pitchFamily="34" charset="-120"/>
              </a:rPr>
              <a:t>Tre ting å ta med deg</a:t>
            </a:r>
            <a:endParaRPr lang="en-US" sz="3200" dirty="0"/>
          </a:p>
        </p:txBody>
      </p:sp>
      <p:sp>
        <p:nvSpPr>
          <p:cNvPr id="3" name="Text 1"/>
          <p:cNvSpPr txBox="1"/>
          <p:nvPr/>
        </p:nvSpPr>
        <p:spPr>
          <a:xfrm>
            <a:off x="9174175" y="566928"/>
            <a:ext cx="2377440" cy="365760"/>
          </a:xfrm>
          <a:prstGeom prst="rect">
            <a:avLst/>
          </a:prstGeom>
          <a:noFill/>
          <a:ln/>
        </p:spPr>
        <p:txBody>
          <a:bodyPr wrap="square" lIns="0" tIns="0" rIns="0" bIns="0" rtlCol="0" anchor="ctr"/>
          <a:lstStyle/>
          <a:p>
            <a:pPr algn="r" indent="0" marL="0">
              <a:buNone/>
            </a:pPr>
            <a:r>
              <a:rPr lang="en-US" sz="1000" b="1" spc="200" kern="0" dirty="0">
                <a:solidFill>
                  <a:srgbClr val="3F6E93"/>
                </a:solidFill>
                <a:latin typeface="Calibri" pitchFamily="34" charset="0"/>
                <a:ea typeface="Calibri" pitchFamily="34" charset="-122"/>
                <a:cs typeface="Calibri" pitchFamily="34" charset="-120"/>
              </a:rPr>
              <a:t>OPPSUMMERING</a:t>
            </a:r>
            <a:endParaRPr lang="en-US" sz="1000" dirty="0"/>
          </a:p>
        </p:txBody>
      </p:sp>
      <p:sp>
        <p:nvSpPr>
          <p:cNvPr id="4" name="Text 2"/>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66737F"/>
                </a:solidFill>
                <a:latin typeface="Calibri" pitchFamily="34" charset="0"/>
                <a:ea typeface="Calibri" pitchFamily="34" charset="-122"/>
                <a:cs typeface="Calibri" pitchFamily="34" charset="-120"/>
              </a:rPr>
              <a:t>RF Studio  ·  PFT Eiendom</a:t>
            </a:r>
            <a:endParaRPr lang="en-US" sz="900" dirty="0"/>
          </a:p>
        </p:txBody>
      </p:sp>
      <p:sp>
        <p:nvSpPr>
          <p:cNvPr id="5"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66737F"/>
                </a:solidFill>
                <a:latin typeface="Calibri" pitchFamily="34" charset="0"/>
                <a:ea typeface="Calibri" pitchFamily="34" charset="-122"/>
                <a:cs typeface="Calibri" pitchFamily="34" charset="-120"/>
              </a:rPr>
              <a:t>17 / 18</a:t>
            </a:r>
            <a:endParaRPr lang="en-US" sz="900" dirty="0"/>
          </a:p>
        </p:txBody>
      </p:sp>
      <p:sp>
        <p:nvSpPr>
          <p:cNvPr id="6" name="Shape 4"/>
          <p:cNvSpPr/>
          <p:nvPr/>
        </p:nvSpPr>
        <p:spPr>
          <a:xfrm>
            <a:off x="640080" y="1554480"/>
            <a:ext cx="10911535" cy="1097280"/>
          </a:xfrm>
          <a:prstGeom prst="roundRect">
            <a:avLst>
              <a:gd name="adj" fmla="val 10000"/>
            </a:avLst>
          </a:prstGeom>
          <a:solidFill>
            <a:srgbClr val="F4F7FA"/>
          </a:solidFill>
          <a:ln w="12700">
            <a:solidFill>
              <a:srgbClr val="F4F7FA"/>
            </a:solidFill>
            <a:prstDash val="solid"/>
          </a:ln>
        </p:spPr>
      </p:sp>
      <p:sp>
        <p:nvSpPr>
          <p:cNvPr id="7" name="Shape 5"/>
          <p:cNvSpPr/>
          <p:nvPr/>
        </p:nvSpPr>
        <p:spPr>
          <a:xfrm>
            <a:off x="914400" y="1892808"/>
            <a:ext cx="420624" cy="420624"/>
          </a:xfrm>
          <a:prstGeom prst="ellipse">
            <a:avLst/>
          </a:prstGeom>
          <a:solidFill>
            <a:srgbClr val="E0A526"/>
          </a:solidFill>
          <a:ln w="12700">
            <a:solidFill>
              <a:srgbClr val="E0A526"/>
            </a:solidFill>
            <a:prstDash val="solid"/>
          </a:ln>
        </p:spPr>
      </p:sp>
      <p:sp>
        <p:nvSpPr>
          <p:cNvPr id="8" name="Text 6"/>
          <p:cNvSpPr txBox="1"/>
          <p:nvPr/>
        </p:nvSpPr>
        <p:spPr>
          <a:xfrm>
            <a:off x="914400" y="1892808"/>
            <a:ext cx="420624" cy="420624"/>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1</a:t>
            </a:r>
            <a:endParaRPr lang="en-US" sz="1400" dirty="0"/>
          </a:p>
        </p:txBody>
      </p:sp>
      <p:sp>
        <p:nvSpPr>
          <p:cNvPr id="9" name="Shape 7"/>
          <p:cNvSpPr/>
          <p:nvPr/>
        </p:nvSpPr>
        <p:spPr>
          <a:xfrm>
            <a:off x="1554480" y="1783080"/>
            <a:ext cx="640080" cy="640080"/>
          </a:xfrm>
          <a:prstGeom prst="ellipse">
            <a:avLst/>
          </a:prstGeom>
          <a:solidFill>
            <a:srgbClr val="14283C"/>
          </a:solidFill>
          <a:ln w="12700">
            <a:solidFill>
              <a:srgbClr val="14283C"/>
            </a:solidFill>
            <a:prstDash val="solid"/>
          </a:ln>
        </p:spPr>
      </p:sp>
      <p:pic>
        <p:nvPicPr>
          <p:cNvPr id="10" name="Image 0" descr="preencoded.png">    </p:cNvPr>
          <p:cNvPicPr>
            <a:picLocks noChangeAspect="1"/>
          </p:cNvPicPr>
          <p:nvPr/>
        </p:nvPicPr>
        <p:blipFill>
          <a:blip r:embed="rId1"/>
          <a:stretch>
            <a:fillRect/>
          </a:stretch>
        </p:blipFill>
        <p:spPr>
          <a:xfrm>
            <a:off x="1714500" y="1943100"/>
            <a:ext cx="320040" cy="320040"/>
          </a:xfrm>
          <a:prstGeom prst="rect">
            <a:avLst/>
          </a:prstGeom>
        </p:spPr>
      </p:pic>
      <p:sp>
        <p:nvSpPr>
          <p:cNvPr id="11" name="Text 8"/>
          <p:cNvSpPr txBox="1"/>
          <p:nvPr/>
        </p:nvSpPr>
        <p:spPr>
          <a:xfrm>
            <a:off x="2468880" y="1691640"/>
            <a:ext cx="3291840" cy="822960"/>
          </a:xfrm>
          <a:prstGeom prst="rect">
            <a:avLst/>
          </a:prstGeom>
          <a:noFill/>
          <a:ln/>
        </p:spPr>
        <p:txBody>
          <a:bodyPr wrap="square" lIns="0" tIns="0" rIns="0" bIns="0" rtlCol="0" anchor="ctr"/>
          <a:lstStyle/>
          <a:p>
            <a:pPr indent="0" marL="0">
              <a:buNone/>
            </a:pPr>
            <a:r>
              <a:rPr lang="en-US" sz="1900" b="1" dirty="0">
                <a:solidFill>
                  <a:srgbClr val="14283C"/>
                </a:solidFill>
                <a:latin typeface="Cambria" pitchFamily="34" charset="0"/>
                <a:ea typeface="Cambria" pitchFamily="34" charset="-122"/>
                <a:cs typeface="Cambria" pitchFamily="34" charset="-120"/>
              </a:rPr>
              <a:t>Hva RF Studio er</a:t>
            </a:r>
            <a:endParaRPr lang="en-US" sz="1900" dirty="0"/>
          </a:p>
        </p:txBody>
      </p:sp>
      <p:sp>
        <p:nvSpPr>
          <p:cNvPr id="12" name="Text 9"/>
          <p:cNvSpPr txBox="1"/>
          <p:nvPr/>
        </p:nvSpPr>
        <p:spPr>
          <a:xfrm>
            <a:off x="5943600" y="1691640"/>
            <a:ext cx="5333695" cy="8229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PFT Eiendoms utviklingsmiljø: ideer testes i liten skala før de blir felles løsninger.</a:t>
            </a:r>
            <a:endParaRPr lang="en-US" sz="1400" dirty="0"/>
          </a:p>
        </p:txBody>
      </p:sp>
      <p:sp>
        <p:nvSpPr>
          <p:cNvPr id="13" name="Shape 10"/>
          <p:cNvSpPr/>
          <p:nvPr/>
        </p:nvSpPr>
        <p:spPr>
          <a:xfrm>
            <a:off x="640080" y="2834640"/>
            <a:ext cx="10911535" cy="1097280"/>
          </a:xfrm>
          <a:prstGeom prst="roundRect">
            <a:avLst>
              <a:gd name="adj" fmla="val 10000"/>
            </a:avLst>
          </a:prstGeom>
          <a:solidFill>
            <a:srgbClr val="F4F7FA"/>
          </a:solidFill>
          <a:ln w="12700">
            <a:solidFill>
              <a:srgbClr val="F4F7FA"/>
            </a:solidFill>
            <a:prstDash val="solid"/>
          </a:ln>
        </p:spPr>
      </p:sp>
      <p:sp>
        <p:nvSpPr>
          <p:cNvPr id="14" name="Shape 11"/>
          <p:cNvSpPr/>
          <p:nvPr/>
        </p:nvSpPr>
        <p:spPr>
          <a:xfrm>
            <a:off x="914400" y="3172968"/>
            <a:ext cx="420624" cy="420624"/>
          </a:xfrm>
          <a:prstGeom prst="ellipse">
            <a:avLst/>
          </a:prstGeom>
          <a:solidFill>
            <a:srgbClr val="E0A526"/>
          </a:solidFill>
          <a:ln w="12700">
            <a:solidFill>
              <a:srgbClr val="E0A526"/>
            </a:solidFill>
            <a:prstDash val="solid"/>
          </a:ln>
        </p:spPr>
      </p:sp>
      <p:sp>
        <p:nvSpPr>
          <p:cNvPr id="15" name="Text 12"/>
          <p:cNvSpPr txBox="1"/>
          <p:nvPr/>
        </p:nvSpPr>
        <p:spPr>
          <a:xfrm>
            <a:off x="914400" y="3172968"/>
            <a:ext cx="420624" cy="420624"/>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2</a:t>
            </a:r>
            <a:endParaRPr lang="en-US" sz="1400" dirty="0"/>
          </a:p>
        </p:txBody>
      </p:sp>
      <p:sp>
        <p:nvSpPr>
          <p:cNvPr id="16" name="Shape 13"/>
          <p:cNvSpPr/>
          <p:nvPr/>
        </p:nvSpPr>
        <p:spPr>
          <a:xfrm>
            <a:off x="1554480" y="3063240"/>
            <a:ext cx="640080" cy="640080"/>
          </a:xfrm>
          <a:prstGeom prst="ellipse">
            <a:avLst/>
          </a:prstGeom>
          <a:solidFill>
            <a:srgbClr val="14283C"/>
          </a:solidFill>
          <a:ln w="12700">
            <a:solidFill>
              <a:srgbClr val="14283C"/>
            </a:solidFill>
            <a:prstDash val="solid"/>
          </a:ln>
        </p:spPr>
      </p:sp>
      <p:pic>
        <p:nvPicPr>
          <p:cNvPr id="17" name="Image 1" descr="preencoded.png">    </p:cNvPr>
          <p:cNvPicPr>
            <a:picLocks noChangeAspect="1"/>
          </p:cNvPicPr>
          <p:nvPr/>
        </p:nvPicPr>
        <p:blipFill>
          <a:blip r:embed="rId2"/>
          <a:stretch>
            <a:fillRect/>
          </a:stretch>
        </p:blipFill>
        <p:spPr>
          <a:xfrm>
            <a:off x="1714500" y="3223260"/>
            <a:ext cx="320040" cy="320040"/>
          </a:xfrm>
          <a:prstGeom prst="rect">
            <a:avLst/>
          </a:prstGeom>
        </p:spPr>
      </p:pic>
      <p:sp>
        <p:nvSpPr>
          <p:cNvPr id="18" name="Text 14"/>
          <p:cNvSpPr txBox="1"/>
          <p:nvPr/>
        </p:nvSpPr>
        <p:spPr>
          <a:xfrm>
            <a:off x="2468880" y="2971800"/>
            <a:ext cx="3291840" cy="822960"/>
          </a:xfrm>
          <a:prstGeom prst="rect">
            <a:avLst/>
          </a:prstGeom>
          <a:noFill/>
          <a:ln/>
        </p:spPr>
        <p:txBody>
          <a:bodyPr wrap="square" lIns="0" tIns="0" rIns="0" bIns="0" rtlCol="0" anchor="ctr"/>
          <a:lstStyle/>
          <a:p>
            <a:pPr indent="0" marL="0">
              <a:buNone/>
            </a:pPr>
            <a:r>
              <a:rPr lang="en-US" sz="1900" b="1" dirty="0">
                <a:solidFill>
                  <a:srgbClr val="14283C"/>
                </a:solidFill>
                <a:latin typeface="Cambria" pitchFamily="34" charset="0"/>
                <a:ea typeface="Cambria" pitchFamily="34" charset="-122"/>
                <a:cs typeface="Cambria" pitchFamily="34" charset="-120"/>
              </a:rPr>
              <a:t>Hva det betyr for deg</a:t>
            </a:r>
            <a:endParaRPr lang="en-US" sz="1900" dirty="0"/>
          </a:p>
        </p:txBody>
      </p:sp>
      <p:sp>
        <p:nvSpPr>
          <p:cNvPr id="19" name="Text 15"/>
          <p:cNvSpPr txBox="1"/>
          <p:nvPr/>
        </p:nvSpPr>
        <p:spPr>
          <a:xfrm>
            <a:off x="5943600" y="2971800"/>
            <a:ext cx="5333695" cy="8229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Færre lokale særløsninger, én kanal for behov, og innsikt før endringer treffer dine bygg.</a:t>
            </a:r>
            <a:endParaRPr lang="en-US" sz="1400" dirty="0"/>
          </a:p>
        </p:txBody>
      </p:sp>
      <p:sp>
        <p:nvSpPr>
          <p:cNvPr id="20" name="Shape 16"/>
          <p:cNvSpPr/>
          <p:nvPr/>
        </p:nvSpPr>
        <p:spPr>
          <a:xfrm>
            <a:off x="640080" y="4114800"/>
            <a:ext cx="10911535" cy="1097280"/>
          </a:xfrm>
          <a:prstGeom prst="roundRect">
            <a:avLst>
              <a:gd name="adj" fmla="val 10000"/>
            </a:avLst>
          </a:prstGeom>
          <a:solidFill>
            <a:srgbClr val="EAF0F5"/>
          </a:solidFill>
          <a:ln w="12700">
            <a:solidFill>
              <a:srgbClr val="EAF0F5"/>
            </a:solidFill>
            <a:prstDash val="solid"/>
          </a:ln>
        </p:spPr>
      </p:sp>
      <p:sp>
        <p:nvSpPr>
          <p:cNvPr id="21" name="Shape 17"/>
          <p:cNvSpPr/>
          <p:nvPr/>
        </p:nvSpPr>
        <p:spPr>
          <a:xfrm>
            <a:off x="914400" y="4453128"/>
            <a:ext cx="420624" cy="420624"/>
          </a:xfrm>
          <a:prstGeom prst="ellipse">
            <a:avLst/>
          </a:prstGeom>
          <a:solidFill>
            <a:srgbClr val="E0A526"/>
          </a:solidFill>
          <a:ln w="12700">
            <a:solidFill>
              <a:srgbClr val="E0A526"/>
            </a:solidFill>
            <a:prstDash val="solid"/>
          </a:ln>
        </p:spPr>
      </p:sp>
      <p:sp>
        <p:nvSpPr>
          <p:cNvPr id="22" name="Text 18"/>
          <p:cNvSpPr txBox="1"/>
          <p:nvPr/>
        </p:nvSpPr>
        <p:spPr>
          <a:xfrm>
            <a:off x="914400" y="4453128"/>
            <a:ext cx="420624" cy="420624"/>
          </a:xfrm>
          <a:prstGeom prst="rect">
            <a:avLst/>
          </a:prstGeom>
          <a:noFill/>
          <a:ln/>
        </p:spPr>
        <p:txBody>
          <a:bodyPr wrap="square" lIns="0" tIns="0" rIns="0" bIns="0" rtlCol="0" anchor="ctr"/>
          <a:lstStyle/>
          <a:p>
            <a:pPr algn="ctr" indent="0" marL="0">
              <a:buNone/>
            </a:pPr>
            <a:r>
              <a:rPr lang="en-US" sz="1400" b="1" dirty="0">
                <a:solidFill>
                  <a:srgbClr val="14283C"/>
                </a:solidFill>
                <a:latin typeface="Cambria" pitchFamily="34" charset="0"/>
                <a:ea typeface="Cambria" pitchFamily="34" charset="-122"/>
                <a:cs typeface="Cambria" pitchFamily="34" charset="-120"/>
              </a:rPr>
              <a:t>3</a:t>
            </a:r>
            <a:endParaRPr lang="en-US" sz="1400" dirty="0"/>
          </a:p>
        </p:txBody>
      </p:sp>
      <p:sp>
        <p:nvSpPr>
          <p:cNvPr id="23" name="Shape 19"/>
          <p:cNvSpPr/>
          <p:nvPr/>
        </p:nvSpPr>
        <p:spPr>
          <a:xfrm>
            <a:off x="1554480" y="4343400"/>
            <a:ext cx="640080" cy="640080"/>
          </a:xfrm>
          <a:prstGeom prst="ellipse">
            <a:avLst/>
          </a:prstGeom>
          <a:solidFill>
            <a:srgbClr val="14283C"/>
          </a:solidFill>
          <a:ln w="12700">
            <a:solidFill>
              <a:srgbClr val="14283C"/>
            </a:solidFill>
            <a:prstDash val="solid"/>
          </a:ln>
        </p:spPr>
      </p:sp>
      <p:pic>
        <p:nvPicPr>
          <p:cNvPr id="24" name="Image 2" descr="preencoded.png">    </p:cNvPr>
          <p:cNvPicPr>
            <a:picLocks noChangeAspect="1"/>
          </p:cNvPicPr>
          <p:nvPr/>
        </p:nvPicPr>
        <p:blipFill>
          <a:blip r:embed="rId3"/>
          <a:stretch>
            <a:fillRect/>
          </a:stretch>
        </p:blipFill>
        <p:spPr>
          <a:xfrm>
            <a:off x="1714500" y="4503420"/>
            <a:ext cx="320040" cy="320040"/>
          </a:xfrm>
          <a:prstGeom prst="rect">
            <a:avLst/>
          </a:prstGeom>
        </p:spPr>
      </p:pic>
      <p:sp>
        <p:nvSpPr>
          <p:cNvPr id="25" name="Text 20"/>
          <p:cNvSpPr txBox="1"/>
          <p:nvPr/>
        </p:nvSpPr>
        <p:spPr>
          <a:xfrm>
            <a:off x="2468880" y="4251960"/>
            <a:ext cx="3291840" cy="822960"/>
          </a:xfrm>
          <a:prstGeom prst="rect">
            <a:avLst/>
          </a:prstGeom>
          <a:noFill/>
          <a:ln/>
        </p:spPr>
        <p:txBody>
          <a:bodyPr wrap="square" lIns="0" tIns="0" rIns="0" bIns="0" rtlCol="0" anchor="ctr"/>
          <a:lstStyle/>
          <a:p>
            <a:pPr indent="0" marL="0">
              <a:buNone/>
            </a:pPr>
            <a:r>
              <a:rPr lang="en-US" sz="1900" b="1" dirty="0">
                <a:solidFill>
                  <a:srgbClr val="14283C"/>
                </a:solidFill>
                <a:latin typeface="Cambria" pitchFamily="34" charset="0"/>
                <a:ea typeface="Cambria" pitchFamily="34" charset="-122"/>
                <a:cs typeface="Cambria" pitchFamily="34" charset="-120"/>
              </a:rPr>
              <a:t>Hva du kan gjøre</a:t>
            </a:r>
            <a:endParaRPr lang="en-US" sz="1900" dirty="0"/>
          </a:p>
        </p:txBody>
      </p:sp>
      <p:sp>
        <p:nvSpPr>
          <p:cNvPr id="26" name="Text 21"/>
          <p:cNvSpPr txBox="1"/>
          <p:nvPr/>
        </p:nvSpPr>
        <p:spPr>
          <a:xfrm>
            <a:off x="5943600" y="4251960"/>
            <a:ext cx="5333695" cy="8229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Meld inn ett behov denne uken – eller tilby bygget ditt som pilot.</a:t>
            </a:r>
            <a:endParaRPr lang="en-US" sz="1400" dirty="0"/>
          </a:p>
        </p:txBody>
      </p:sp>
      <p:sp>
        <p:nvSpPr>
          <p:cNvPr id="27" name="Text 22"/>
          <p:cNvSpPr txBox="1"/>
          <p:nvPr/>
        </p:nvSpPr>
        <p:spPr>
          <a:xfrm>
            <a:off x="640080" y="5440680"/>
            <a:ext cx="10911535" cy="365760"/>
          </a:xfrm>
          <a:prstGeom prst="rect">
            <a:avLst/>
          </a:prstGeom>
          <a:noFill/>
          <a:ln/>
        </p:spPr>
        <p:txBody>
          <a:bodyPr wrap="square" lIns="0" tIns="0" rIns="0" bIns="0" rtlCol="0" anchor="ctr"/>
          <a:lstStyle/>
          <a:p>
            <a:pPr indent="0" marL="0">
              <a:buNone/>
            </a:pPr>
            <a:r>
              <a:rPr lang="en-US" sz="1200" i="1" dirty="0">
                <a:solidFill>
                  <a:srgbClr val="66737F"/>
                </a:solidFill>
                <a:latin typeface="Calibri" pitchFamily="34" charset="0"/>
                <a:ea typeface="Calibri" pitchFamily="34" charset="-122"/>
                <a:cs typeface="Calibri" pitchFamily="34" charset="-120"/>
              </a:rPr>
              <a:t>Dette var løftet fra starten – sjekk selv: kan du forklare RF Studio med én setning?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83C"/>
        </a:solidFill>
      </p:bgPr>
    </p:bg>
    <p:spTree>
      <p:nvGrpSpPr>
        <p:cNvPr id="1" name=""/>
        <p:cNvGrpSpPr/>
        <p:nvPr/>
      </p:nvGrpSpPr>
      <p:grpSpPr>
        <a:xfrm>
          <a:off x="0" y="0"/>
          <a:ext cx="0" cy="0"/>
          <a:chOff x="0" y="0"/>
          <a:chExt cx="0" cy="0"/>
        </a:xfrm>
      </p:grpSpPr>
      <p:sp>
        <p:nvSpPr>
          <p:cNvPr id="2" name="Shape 0"/>
          <p:cNvSpPr/>
          <p:nvPr/>
        </p:nvSpPr>
        <p:spPr>
          <a:xfrm>
            <a:off x="7863840" y="2926080"/>
            <a:ext cx="5943600" cy="5943600"/>
          </a:xfrm>
          <a:prstGeom prst="ellipse">
            <a:avLst/>
          </a:prstGeom>
          <a:solidFill>
            <a:srgbClr val="1D3750"/>
          </a:solidFill>
          <a:ln w="12700">
            <a:solidFill>
              <a:srgbClr val="1D3750"/>
            </a:solidFill>
            <a:prstDash val="solid"/>
          </a:ln>
        </p:spPr>
      </p:sp>
      <p:sp>
        <p:nvSpPr>
          <p:cNvPr id="3" name="Text 1"/>
          <p:cNvSpPr txBox="1"/>
          <p:nvPr/>
        </p:nvSpPr>
        <p:spPr>
          <a:xfrm>
            <a:off x="640080" y="1371600"/>
            <a:ext cx="73152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Spørsmål?</a:t>
            </a:r>
            <a:endParaRPr lang="en-US" sz="5400" dirty="0"/>
          </a:p>
        </p:txBody>
      </p:sp>
      <p:sp>
        <p:nvSpPr>
          <p:cNvPr id="4" name="Text 2"/>
          <p:cNvSpPr txBox="1"/>
          <p:nvPr/>
        </p:nvSpPr>
        <p:spPr>
          <a:xfrm>
            <a:off x="640080" y="2606040"/>
            <a:ext cx="6858000" cy="822960"/>
          </a:xfrm>
          <a:prstGeom prst="rect">
            <a:avLst/>
          </a:prstGeom>
          <a:noFill/>
          <a:ln/>
        </p:spPr>
        <p:txBody>
          <a:bodyPr wrap="square" lIns="0" tIns="0" rIns="0" bIns="0" rtlCol="0" anchor="ctr"/>
          <a:lstStyle/>
          <a:p>
            <a:pPr indent="0" marL="0">
              <a:buNone/>
            </a:pPr>
            <a:r>
              <a:rPr lang="en-US" sz="1800" dirty="0">
                <a:solidFill>
                  <a:srgbClr val="DCE6EF"/>
                </a:solidFill>
                <a:latin typeface="Calibri" pitchFamily="34" charset="0"/>
                <a:ea typeface="Calibri" pitchFamily="34" charset="-122"/>
                <a:cs typeface="Calibri" pitchFamily="34" charset="-120"/>
              </a:rPr>
              <a:t>Det dere lurer på nå, er det neste eiendomsansvarlig også lurer på. Ingen spørsmål er for små.</a:t>
            </a:r>
            <a:endParaRPr lang="en-US" sz="1800" dirty="0"/>
          </a:p>
        </p:txBody>
      </p:sp>
      <p:sp>
        <p:nvSpPr>
          <p:cNvPr id="5" name="Shape 3"/>
          <p:cNvSpPr/>
          <p:nvPr/>
        </p:nvSpPr>
        <p:spPr>
          <a:xfrm>
            <a:off x="640080" y="3840480"/>
            <a:ext cx="6858000" cy="1737360"/>
          </a:xfrm>
          <a:prstGeom prst="roundRect">
            <a:avLst>
              <a:gd name="adj" fmla="val 6316"/>
            </a:avLst>
          </a:prstGeom>
          <a:solidFill>
            <a:srgbClr val="1D3750"/>
          </a:solidFill>
          <a:ln w="12700">
            <a:solidFill>
              <a:srgbClr val="1D3750"/>
            </a:solidFill>
            <a:prstDash val="solid"/>
          </a:ln>
        </p:spPr>
      </p:sp>
      <p:sp>
        <p:nvSpPr>
          <p:cNvPr id="6" name="Text 4"/>
          <p:cNvSpPr txBox="1"/>
          <p:nvPr/>
        </p:nvSpPr>
        <p:spPr>
          <a:xfrm>
            <a:off x="1005840" y="4023360"/>
            <a:ext cx="2743200" cy="274320"/>
          </a:xfrm>
          <a:prstGeom prst="rect">
            <a:avLst/>
          </a:prstGeom>
          <a:noFill/>
          <a:ln/>
        </p:spPr>
        <p:txBody>
          <a:bodyPr wrap="square" lIns="0" tIns="0" rIns="0" bIns="0" rtlCol="0" anchor="ctr"/>
          <a:lstStyle/>
          <a:p>
            <a:pPr indent="0" marL="0">
              <a:buNone/>
            </a:pPr>
            <a:r>
              <a:rPr lang="en-US" sz="1000" b="1" spc="200" kern="0" dirty="0">
                <a:solidFill>
                  <a:srgbClr val="E0A526"/>
                </a:solidFill>
                <a:latin typeface="Calibri" pitchFamily="34" charset="0"/>
                <a:ea typeface="Calibri" pitchFamily="34" charset="-122"/>
                <a:cs typeface="Calibri" pitchFamily="34" charset="-120"/>
              </a:rPr>
              <a:t>KONTAKT</a:t>
            </a:r>
            <a:endParaRPr lang="en-US" sz="1000" dirty="0"/>
          </a:p>
        </p:txBody>
      </p:sp>
      <p:sp>
        <p:nvSpPr>
          <p:cNvPr id="7" name="Text 5"/>
          <p:cNvSpPr txBox="1"/>
          <p:nvPr/>
        </p:nvSpPr>
        <p:spPr>
          <a:xfrm>
            <a:off x="1005840" y="4343400"/>
            <a:ext cx="6126480" cy="1097280"/>
          </a:xfrm>
          <a:prstGeom prst="rect">
            <a:avLst/>
          </a:prstGeom>
          <a:noFill/>
          <a:ln/>
        </p:spPr>
        <p:txBody>
          <a:bodyPr wrap="square" lIns="0" tIns="0" rIns="0" bIns="0" rtlCol="0" anchor="ctr"/>
          <a:lstStyle/>
          <a:p>
            <a:pPr indent="0" marL="0">
              <a:spcAft>
                <a:spcPts val="400"/>
              </a:spcAft>
              <a:buNone/>
            </a:pPr>
            <a:r>
              <a:rPr lang="en-US" sz="1500" i="1" dirty="0">
                <a:solidFill>
                  <a:srgbClr val="3F6E93"/>
                </a:solidFill>
                <a:latin typeface="Calibri" pitchFamily="34" charset="0"/>
                <a:ea typeface="Calibri" pitchFamily="34" charset="-122"/>
                <a:cs typeface="Calibri" pitchFamily="34" charset="-120"/>
              </a:rPr>
              <a:t>[Navn, RF Studio]</a:t>
            </a:r>
            <a:pPr indent="0" marL="0">
              <a:spcAft>
                <a:spcPts val="400"/>
              </a:spcAft>
              <a:buNone/>
            </a:pPr>
            <a:endParaRPr lang="en-US" sz="1500" dirty="0"/>
          </a:p>
          <a:p>
            <a:pPr indent="0" marL="0">
              <a:spcAft>
                <a:spcPts val="400"/>
              </a:spcAft>
              <a:buNone/>
            </a:pPr>
            <a:r>
              <a:rPr lang="en-US" sz="1500" i="1" dirty="0">
                <a:solidFill>
                  <a:srgbClr val="3F6E93"/>
                </a:solidFill>
                <a:latin typeface="Calibri" pitchFamily="34" charset="0"/>
                <a:ea typeface="Calibri" pitchFamily="34" charset="-122"/>
                <a:cs typeface="Calibri" pitchFamily="34" charset="-120"/>
              </a:rPr>
              <a:t>[e-post]</a:t>
            </a:r>
            <a:pPr indent="0" marL="0">
              <a:spcAft>
                <a:spcPts val="400"/>
              </a:spcAft>
              <a:buNone/>
            </a:pPr>
            <a:r>
              <a:rPr lang="en-US" sz="1500" dirty="0">
                <a:solidFill>
                  <a:srgbClr val="AFC1D0"/>
                </a:solidFill>
                <a:latin typeface="Calibri" pitchFamily="34" charset="0"/>
                <a:ea typeface="Calibri" pitchFamily="34" charset="-122"/>
                <a:cs typeface="Calibri" pitchFamily="34" charset="-120"/>
              </a:rPr>
              <a:t>   ·   </a:t>
            </a:r>
            <a:pPr indent="0" marL="0">
              <a:spcAft>
                <a:spcPts val="400"/>
              </a:spcAft>
              <a:buNone/>
            </a:pPr>
            <a:r>
              <a:rPr lang="en-US" sz="1500" i="1" dirty="0">
                <a:solidFill>
                  <a:srgbClr val="3F6E93"/>
                </a:solidFill>
                <a:latin typeface="Calibri" pitchFamily="34" charset="0"/>
                <a:ea typeface="Calibri" pitchFamily="34" charset="-122"/>
                <a:cs typeface="Calibri" pitchFamily="34" charset="-120"/>
              </a:rPr>
              <a:t>[telefon]</a:t>
            </a:r>
            <a:pPr indent="0" marL="0">
              <a:spcAft>
                <a:spcPts val="400"/>
              </a:spcAft>
              <a:buNone/>
            </a:pPr>
            <a:endParaRPr lang="en-US" sz="1500" dirty="0"/>
          </a:p>
          <a:p>
            <a:pPr indent="0" marL="0">
              <a:spcAft>
                <a:spcPts val="400"/>
              </a:spcAft>
              <a:buNone/>
            </a:pPr>
            <a:r>
              <a:rPr lang="en-US" sz="1500" i="1" dirty="0">
                <a:solidFill>
                  <a:srgbClr val="3F6E93"/>
                </a:solidFill>
                <a:latin typeface="Calibri" pitchFamily="34" charset="0"/>
                <a:ea typeface="Calibri" pitchFamily="34" charset="-122"/>
                <a:cs typeface="Calibri" pitchFamily="34" charset="-120"/>
              </a:rPr>
              <a:t>[Lenke til mer informasjon / intranett]</a:t>
            </a:r>
            <a:endParaRPr lang="en-US" sz="1500" dirty="0"/>
          </a:p>
        </p:txBody>
      </p:sp>
      <p:sp>
        <p:nvSpPr>
          <p:cNvPr id="8" name="Text 6"/>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900" dirty="0">
                <a:solidFill>
                  <a:srgbClr val="8FA3B5"/>
                </a:solidFill>
                <a:latin typeface="Calibri" pitchFamily="34" charset="0"/>
                <a:ea typeface="Calibri" pitchFamily="34" charset="-122"/>
                <a:cs typeface="Calibri" pitchFamily="34" charset="-120"/>
              </a:rPr>
              <a:t>RF Studio  ·  PFT Eiendom</a:t>
            </a:r>
            <a:endParaRPr lang="en-US" sz="900" dirty="0"/>
          </a:p>
        </p:txBody>
      </p:sp>
      <p:sp>
        <p:nvSpPr>
          <p:cNvPr id="9" name="Text 7"/>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 Studio – 30 minutter for eiendomsansvarlige</dc:title>
  <dc:subject>PptxGenJS Presentation</dc:subject>
  <dc:creator>RF Studio · PFT Eiendom</dc:creator>
  <cp:lastModifiedBy>RF Studio · PFT Eiendom</cp:lastModifiedBy>
  <cp:revision>1</cp:revision>
  <dcterms:created xsi:type="dcterms:W3CDTF">2026-09-03T09:10:15Z</dcterms:created>
  <dcterms:modified xsi:type="dcterms:W3CDTF">2026-09-03T09:10:15Z</dcterms:modified>
</cp:coreProperties>
</file>